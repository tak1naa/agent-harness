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87255baa534bf2" /><Relationship Type="http://schemas.openxmlformats.org/officeDocument/2006/relationships/extended-properties" Target="/docProps/app.xml" Id="R04c9b296cb7142d7" /><Relationship Type="http://schemas.openxmlformats.org/officeDocument/2006/relationships/officeDocument" Target="/ppt/presentation.xml" Id="R6316fc780c284e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856339957a4e79"/>
  </p:sldMasterIdLst>
  <p:notesMasterIdLst>
    <p:notesMasterId xmlns:r="http://schemas.openxmlformats.org/officeDocument/2006/relationships" r:id="Rb550cc0bf6874cd2"/>
  </p:notesMasterIdLst>
  <p:sldIdLst>
    <p:sldId xmlns:r="http://schemas.openxmlformats.org/officeDocument/2006/relationships" id="256" r:id="R95561d98914e48b4"/>
    <p:sldId xmlns:r="http://schemas.openxmlformats.org/officeDocument/2006/relationships" id="257" r:id="R05b7bbbf316b4f20"/>
    <p:sldId xmlns:r="http://schemas.openxmlformats.org/officeDocument/2006/relationships" id="258" r:id="Ra89b81f72d2f479f"/>
    <p:sldId xmlns:r="http://schemas.openxmlformats.org/officeDocument/2006/relationships" id="259" r:id="R9024686f4ca34c61"/>
    <p:sldId xmlns:r="http://schemas.openxmlformats.org/officeDocument/2006/relationships" id="260" r:id="R344f9efa54ea4369"/>
    <p:sldId xmlns:r="http://schemas.openxmlformats.org/officeDocument/2006/relationships" id="261" r:id="R6584b23bf8024048"/>
    <p:sldId xmlns:r="http://schemas.openxmlformats.org/officeDocument/2006/relationships" id="262" r:id="R195b3018d39844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c3f6104baf4522" /><Relationship Type="http://schemas.openxmlformats.org/officeDocument/2006/relationships/slideMaster" Target="/ppt/slideMasters/slideMaster1.xml" Id="R6b856339957a4e79" /><Relationship Type="http://schemas.openxmlformats.org/officeDocument/2006/relationships/notesMaster" Target="/ppt/notesMasters/notesMaster1.xml" Id="Rb550cc0bf6874cd2" /><Relationship Type="http://schemas.openxmlformats.org/officeDocument/2006/relationships/presProps" Target="/ppt/presProps.xml" Id="R58aecddb4b95468f" /><Relationship Type="http://schemas.openxmlformats.org/officeDocument/2006/relationships/tableStyles" Target="/ppt/tableStyles.xml" Id="R8ea9549009f14d5b" /><Relationship Type="http://schemas.openxmlformats.org/officeDocument/2006/relationships/slide" Target="/ppt/slides/slide1.xml" Id="R95561d98914e48b4" /><Relationship Type="http://schemas.openxmlformats.org/officeDocument/2006/relationships/slide" Target="/ppt/slides/slide2.xml" Id="R05b7bbbf316b4f20" /><Relationship Type="http://schemas.openxmlformats.org/officeDocument/2006/relationships/slide" Target="/ppt/slides/slide3.xml" Id="Ra89b81f72d2f479f" /><Relationship Type="http://schemas.openxmlformats.org/officeDocument/2006/relationships/slide" Target="/ppt/slides/slide4.xml" Id="R9024686f4ca34c61" /><Relationship Type="http://schemas.openxmlformats.org/officeDocument/2006/relationships/slide" Target="/ppt/slides/slide5.xml" Id="R344f9efa54ea4369" /><Relationship Type="http://schemas.openxmlformats.org/officeDocument/2006/relationships/slide" Target="/ppt/slides/slide6.xml" Id="R6584b23bf8024048" /><Relationship Type="http://schemas.openxmlformats.org/officeDocument/2006/relationships/slide" Target="/ppt/slides/slide7.xml" Id="R195b3018d398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160182054448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WenQuanYi Zen Hei"/>
        <a:ea typeface=""/>
        <a:cs typeface=""/>
      </a:majorFont>
      <a:minorFont>
        <a:latin typeface="WenQuanYi Zen 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8f132e50f1426b" /><Relationship Type="http://schemas.openxmlformats.org/officeDocument/2006/relationships/notesMaster" Target="/ppt/notesMasters/notesMaster1.xml" Id="R87aefb3105a04f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75abee19e49be" /><Relationship Type="http://schemas.openxmlformats.org/officeDocument/2006/relationships/notesMaster" Target="/ppt/notesMasters/notesMaster1.xml" Id="R8087d5eadb634f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d7e36363464f16" /><Relationship Type="http://schemas.openxmlformats.org/officeDocument/2006/relationships/notesMaster" Target="/ppt/notesMasters/notesMaster1.xml" Id="R5a46d4442f444f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50c06075b448e1" /><Relationship Type="http://schemas.openxmlformats.org/officeDocument/2006/relationships/notesMaster" Target="/ppt/notesMasters/notesMaster1.xml" Id="R463c6246cda343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2b2b2d496749e8" /><Relationship Type="http://schemas.openxmlformats.org/officeDocument/2006/relationships/notesMaster" Target="/ppt/notesMasters/notesMaster1.xml" Id="R6a768539990244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7e66e87536436b" /><Relationship Type="http://schemas.openxmlformats.org/officeDocument/2006/relationships/notesMaster" Target="/ppt/notesMasters/notesMaster1.xml" Id="Rb6f14315a34444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05d5902e83415e" /><Relationship Type="http://schemas.openxmlformats.org/officeDocument/2006/relationships/notesMaster" Target="/ppt/notesMasters/notesMaster1.xml" Id="R69310efac45440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的项目是基于程序分析的代码智能体安全性测试Harness构建方法。中期聚焦一个问题：在相同模型和调用预算下，静态分析给出的风险位置和函数上下文，能否帮助模型生成更有效的Python安全测试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页预算：25秒。</a:t>
            </a:r>
          </a:p>
          <a:p xmlns:a="http://schemas.openxmlformats.org/drawingml/2006/main">
            <a:r>
              <a:t>资料：项目开题报告；results/reference/summary.json；results/server/；results/unit-tests.xml；results/container-tests.xml。</a:t>
            </a:r>
          </a:p>
          <a:p xmlns:a="http://schemas.openxmlformats.org/drawingml/2006/main">
            <a:r>
              <a:t>工具资料：https://bandit.readthedocs.io/en/latest/ ；https://github.com/deepseek-ai/deepseek-harness 。当前无真实模型A/B/C结果。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研究进度落后于开题安排，我们保留题目，收敛到路径穿越、命令注入和SQL注入。静态告警能够指出疑点，但还需要执行证据判断是否真的违反安全性质。因此中期先完成局部分析和动态验证，符号执行、自动修复和跨语言支持延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页预算：35秒。</a:t>
            </a:r>
          </a:p>
          <a:p xmlns:a="http://schemas.openxmlformats.org/drawingml/2006/main">
            <a:r>
              <a:t>资料：项目开题报告；results/reference/summary.json；results/server/；results/unit-tests.xml；results/container-tests.xml。</a:t>
            </a:r>
          </a:p>
          <a:p xmlns:a="http://schemas.openxmlformats.org/drawingml/2006/main">
            <a:r>
              <a:t>工具资料：https://bandit.readthedocs.io/en/latest/ ；https://github.com/deepseek-ai/deepseek-harness 。当前无真实模型A/B/C结果。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从Python代码开始，复用Bandit扫描，再用AST提取函数签名、导入和敏感调用。模型根据这些信息选择测试输入，Hypothesis扩展边界。为防止模型用错误断言制造成功，我们将入口、临时资源和安全断言交给统一的可信探针。代码只在无网络、非特权容器内运行，并设置资源限额。自主实现集中在上下文组织、探针、证据记录和对照实验。DeepSeek Harness负责可选编排，目前SDK和MCP启动已验证，带模型回合尚未验证。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页预算：55秒。</a:t>
            </a:r>
          </a:p>
          <a:p xmlns:a="http://schemas.openxmlformats.org/drawingml/2006/main">
            <a:r>
              <a:t>资料：项目开题报告；results/reference/summary.json；results/server/；results/unit-tests.xml；results/container-tests.xml。</a:t>
            </a:r>
          </a:p>
          <a:p xmlns:a="http://schemas.openxmlformats.org/drawingml/2006/main">
            <a:r>
              <a:t>工具资料：https://bandit.readthedocs.io/en/latest/ ；https://github.com/deepseek-ai/deepseek-harness 。当前无真实模型A/B/C结果。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看路径穿越案例。参考测试输入点点斜杠secret.txt。缺陷版直接拼接路径，返回公共目录外的随机哨兵内容，探针记录违规。修复版先规范化路径并校验边界，同一测试不再触发。现在播放二十秒的真实记录回放。这里使用人工参考测试，它证明执行和判定链路能够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页预算：45秒。播放同目录“演示回放.mp4”，20秒静音。</a:t>
            </a:r>
          </a:p>
          <a:p xmlns:a="http://schemas.openxmlformats.org/drawingml/2006/main">
            <a:r>
              <a:t>资料：项目开题报告；results/reference/summary.json；results/server/；results/unit-tests.xml；results/container-tests.xml。</a:t>
            </a:r>
          </a:p>
          <a:p xmlns:a="http://schemas.openxmlformats.org/drawingml/2006/main">
            <a:r>
              <a:t>工具资料：https://bandit.readthedocs.io/en/latest/ ；https://github.com/deepseek-ai/deepseek-harness 。当前无真实模型A/B/C结果。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三十组人工配对样本全部完成参考验证，缺陷版触发、修复版通过；服务器也复现了三个代表案例。三十组是相似模板的变体，不能据此宣称模型能力提升。正式对照设A组直接生成、B组增加告警、C组增加AST上下文，二十四个冻结样本各重复三次。另保留十二项正常需求生成的全部代码，由两人核验标签。目前Key留空，模型实验尚未运行。我们也测试了失败分类：普通断言失败会记为测试错误，死循环会超时终止，都不计作漏洞。后续将同时报告可运行率、复现率、误报、覆盖和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页预算：75秒。</a:t>
            </a:r>
          </a:p>
          <a:p xmlns:a="http://schemas.openxmlformats.org/drawingml/2006/main">
            <a:r>
              <a:t>资料：项目开题报告；results/reference/summary.json；results/server/；results/unit-tests.xml；results/container-tests.xml。</a:t>
            </a:r>
          </a:p>
          <a:p xmlns:a="http://schemas.openxmlformats.org/drawingml/2006/main">
            <a:r>
              <a:t>工具资料：https://bandit.readthedocs.io/en/latest/ ；https://github.com/deepseek-ai/deepseek-harness 。当前无真实模型A/B/C结果。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已完成原型、冻结样本和参考测试。负责人负责方法、AST与集成，动态负责人负责隔离与案例，数据负责人负责标签、统计和报告。当前只支持统一入口的单文件代码，样本代表性有限，功能正确性还需另测。成员需要理解并复核AI辅助产物，完成双人标注。正常功能需求生成的代码会全部保留，不能只挑出有漏洞的结果。对不确定标签单独报告，避免人为筛选影响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页预算：35秒。</a:t>
            </a:r>
          </a:p>
          <a:p xmlns:a="http://schemas.openxmlformats.org/drawingml/2006/main">
            <a:r>
              <a:t>资料：项目开题报告；results/reference/summary.json；results/server/；results/unit-tests.xml；results/container-tests.xml。</a:t>
            </a:r>
          </a:p>
          <a:p xmlns:a="http://schemas.openxmlformats.org/drawingml/2006/main">
            <a:r>
              <a:t>工具资料：https://bandit.readthedocs.io/en/latest/ ；https://github.com/deepseek-ai/deepseek-harness 。当前无真实模型A/B/C结果。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按十八天安排，先用开发集小批量测量成本，在一百元规划上限内开展正式实验，再复核失败案例并更新报告。即使没有提升，也会如实报告。每条结论都对应原始日志，实验中途失败也保留记录。统计时把开发集与评测集分开，把静态告警与动态复现分开，明确每个指标的分母。随后补充独立来源样本，并完成两轮五分钟答辩演练。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页预算：30秒。</a:t>
            </a:r>
          </a:p>
          <a:p xmlns:a="http://schemas.openxmlformats.org/drawingml/2006/main">
            <a:r>
              <a:t>资料：项目开题报告；results/reference/summary.json；results/server/；results/unit-tests.xml；results/container-tests.xml。</a:t>
            </a:r>
          </a:p>
          <a:p xmlns:a="http://schemas.openxmlformats.org/drawingml/2006/main">
            <a:r>
              <a:t>工具资料：https://bandit.readthedocs.io/en/latest/ ；https://github.com/deepseek-ai/deepseek-harness 。当前无真实模型A/B/C结果。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9bbf9ab414d0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521d397554d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2b4e39255e4d1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413e6999d40c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ef9e4aa6b431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99b3418794e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28A1D3-BF47-429A-86CB-9440008A33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FD54A0-01C3-4819-BB53-66D99B6A0B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81AB9F-E304-4C80-86BA-24287A655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9BAC2F-153E-4649-BCC1-E453D1BF1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BA5F0F0-E91A-4A0C-AC7E-FCDE882963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A16823F-510D-441B-8040-EF7B926558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66A9CD-B357-4E3C-9875-A5FD002502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0F964E-2205-4EA8-BB91-1E0925FF0D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ED6986-AE0A-466E-B07D-46422024B4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F38D5C-853C-4281-BE8C-0547AFDFBB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7b8b2c46a04678" /><Relationship Type="http://schemas.openxmlformats.org/officeDocument/2006/relationships/slideLayout" Target="/ppt/slideLayouts/slideLayout1.xml" Id="Rbe5f0eae94d74c29" /><Relationship Type="http://schemas.openxmlformats.org/officeDocument/2006/relationships/slideLayout" Target="/ppt/slideLayouts/slideLayout2.xml" Id="Ra630a4b76de9475f" /><Relationship Type="http://schemas.openxmlformats.org/officeDocument/2006/relationships/slideLayout" Target="/ppt/slideLayouts/slideLayout3.xml" Id="Rbc126c0a484346fc" /><Relationship Type="http://schemas.openxmlformats.org/officeDocument/2006/relationships/slideLayout" Target="/ppt/slideLayouts/slideLayout4.xml" Id="R9e6133e03e1345ca" /><Relationship Type="http://schemas.openxmlformats.org/officeDocument/2006/relationships/slideLayout" Target="/ppt/slideLayouts/slideLayout5.xml" Id="Rb571ae616e2749d1" /><Relationship Type="http://schemas.openxmlformats.org/officeDocument/2006/relationships/slideLayout" Target="/ppt/slideLayouts/slideLayout6.xml" Id="R5cbf62804998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5f0eae94d74c29"/>
    <p:sldLayoutId xmlns:r="http://schemas.openxmlformats.org/officeDocument/2006/relationships" id="2147483650" r:id="Ra630a4b76de9475f"/>
    <p:sldLayoutId xmlns:r="http://schemas.openxmlformats.org/officeDocument/2006/relationships" id="2147483651" r:id="Rbc126c0a484346fc"/>
    <p:sldLayoutId xmlns:r="http://schemas.openxmlformats.org/officeDocument/2006/relationships" id="2147483652" r:id="R9e6133e03e1345ca"/>
    <p:sldLayoutId xmlns:r="http://schemas.openxmlformats.org/officeDocument/2006/relationships" id="2147483653" r:id="Rb571ae616e2749d1"/>
    <p:sldLayoutId xmlns:r="http://schemas.openxmlformats.org/officeDocument/2006/relationships" id="2147483654" r:id="R5cbf62804998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WenQuanYi Zen Hei"/>
        <a:ea typeface=""/>
        <a:cs typeface=""/>
      </a:majorFont>
      <a:minorFont>
        <a:latin typeface="WenQuanYi Zen 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710c6ff764c43" /><Relationship Type="http://schemas.openxmlformats.org/officeDocument/2006/relationships/notesSlide" Target="/ppt/notesSlides/notesSlide1.xml" Id="Rb72b5fa81de641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d34c2b2214b7a" /><Relationship Type="http://schemas.openxmlformats.org/officeDocument/2006/relationships/notesSlide" Target="/ppt/notesSlides/notesSlide2.xml" Id="R7a5e35576af843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f46452e0404ff1" /><Relationship Type="http://schemas.openxmlformats.org/officeDocument/2006/relationships/notesSlide" Target="/ppt/notesSlides/notesSlide3.xml" Id="Rcbe44038382848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6aef9562844f6" /><Relationship Type="http://schemas.openxmlformats.org/officeDocument/2006/relationships/notesSlide" Target="/ppt/notesSlides/notesSlide4.xml" Id="Rd56ed1b43b4140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803a2486b416c" /><Relationship Type="http://schemas.openxmlformats.org/officeDocument/2006/relationships/notesSlide" Target="/ppt/notesSlides/notesSlide5.xml" Id="R5959c86a79ff45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9bd3897d24e69" /><Relationship Type="http://schemas.openxmlformats.org/officeDocument/2006/relationships/notesSlide" Target="/ppt/notesSlides/notesSlide6.xml" Id="R20aaec1c559c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ec6d29d854e29" /><Relationship Type="http://schemas.openxmlformats.org/officeDocument/2006/relationships/notesSlide" Target="/ppt/notesSlides/notesSlide7.xml" Id="R98495758c57643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00C9E-2DF4-4F97-8D4C-AE51DE8B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01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565D82-4E73-424A-9555-CF67FF7B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基于程序分析的代码智能体</a:t>
            </a:r>
          </a:p>
          <a:p xmlns:a="http://schemas.openxmlformats.org/drawingml/2006/main">
            <a:pPr>
              <a:def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9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安全性测试 Harness 构建方法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9221E-C42C-4D5E-90C0-E7956337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大创中期汇报 · Python 安全测试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BA66B-42F7-479E-820F-F06B8928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相同模型与调用预算下，风险位置和函数上下文</a:t>
            </a:r>
          </a:p>
          <a:p xmlns:a="http://schemas.openxmlformats.org/drawingml/2006/main">
            <a:pPr>
              <a:def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7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能否帮助模型生成更有效的安全测试？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2FE38-ECED-4A05-BEFE-568E9756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00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中期研究范围：路径穿越 · 命令注入 · SQL 注入</a:t>
            </a:r>
          </a:p>
        </p:txBody>
      </p:sp>
    </p:spTree>
    <p:extLst>
      <p:ext uri="{BB962C8B-B14F-4D97-AF65-F5344CB8AC3E}">
        <p14:creationId xmlns:p14="http://schemas.microsoft.com/office/powerpoint/2010/main" val="1224505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F7D88-7FF7-4294-B8BD-EB4CF61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02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6CC3A-770D-4D22-8406-265BF0E4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中期范围与问题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0272D-0649-460E-AF59-422CD20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02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首阶段：路径穿越、命令注入、SQL 注入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BA889-417C-4424-8CE1-1D9367A4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静态告警提供线索，实际违规需要执行证据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845CF-34FA-40E2-A949-89E08F33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局部函数分析与受限测试生成已实现</a:t>
            </a:r>
          </a:p>
          <a:p xmlns:a="http://schemas.openxmlformats.org/drawingml/2006/main">
            <a:pPr>
              <a:def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5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符号执行、自动修复、跨语言留到后续</a:t>
            </a:r>
          </a:p>
        </p:txBody>
      </p:sp>
    </p:spTree>
    <p:extLst>
      <p:ext uri="{BB962C8B-B14F-4D97-AF65-F5344CB8AC3E}">
        <p14:creationId xmlns:p14="http://schemas.microsoft.com/office/powerpoint/2010/main" val="1312267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8EE25-798D-4DCA-976C-5E257668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03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F0CFE-8CD4-4DB8-8EB5-DFB2D16F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技术路线与自主实现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B45BF-7742-4177-AA2D-D93946C7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01  Bandit 告警与 AST 函数上下文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2D03D-2405-4031-B03C-63007B16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02  模型选择测试输入，Hypothesis 扩展输入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8E897-5751-47DC-AA75-B4DC0E05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956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03  rootless 无网络容器执行，可信 probe 判定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EC27D-D3ED-411D-B150-FD780E95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04  JSON 留存证据，CSV 重建实验统计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2A29E-906F-4D94-82B4-29FEF181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自主实现：上下文组织、可信探针、隔离证据与对照实验</a:t>
            </a:r>
          </a:p>
        </p:txBody>
      </p:sp>
    </p:spTree>
    <p:extLst>
      <p:ext uri="{BB962C8B-B14F-4D97-AF65-F5344CB8AC3E}">
        <p14:creationId xmlns:p14="http://schemas.microsoft.com/office/powerpoint/2010/main" val="133129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78877-C591-46AE-AB91-AFD3A063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04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EDB86-3C1B-4C23-8439-3D60F460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路径穿越的配对复现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2EFA6-E219-4D38-8E3C-9E48A82E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7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输入  ../secret.txt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06AAC-87BC-46DE-AA17-E69B5878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缺陷版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9B199-F4EF-4E80-897F-F8C36015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95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open(join(root, value))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F19FE-4E86-432F-AD1D-56651CC0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5048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返回目录外哨兵内容</a:t>
            </a:r>
          </a:p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判定：violation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380FC-E3BF-49D0-A361-E17D33B9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修复版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1276E-DBA9-4419-90E1-6CE0DBAF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956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resolve + is_relative_to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3D08F-1911-4B20-A957-473351D7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拒绝越界路径</a:t>
            </a:r>
          </a:p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判定：pass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AA7EA-2899-4248-AD83-3D6706F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9750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87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播放配套 20 秒录像：人工参考测试的真实记录回放</a:t>
            </a:r>
          </a:p>
        </p:txBody>
      </p:sp>
    </p:spTree>
    <p:extLst>
      <p:ext uri="{BB962C8B-B14F-4D97-AF65-F5344CB8AC3E}">
        <p14:creationId xmlns:p14="http://schemas.microsoft.com/office/powerpoint/2010/main" val="1819553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33949-CDA2-40A7-B1E0-4EF9A2B6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05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DCB47-F687-41A7-B6BD-AF1AA7B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工程验收与待开展的对照实验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DF178-D786-4B54-A581-25E99E61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58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30 / 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CF9E0-7FA4-4A3C-A152-3642DFC4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人工参考配对成立</a:t>
            </a:r>
          </a:p>
          <a:p xmlns:a="http://schemas.openxmlformats.org/drawingml/2006/main">
            <a:pPr>
              <a:def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25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修复版触发 0 / 30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EF2BF7-1B71-4917-BA1D-CF1C5B824443}"/>
              </a:ext>
            </a:extLst>
          </p:cNvPr>
          <p:cNvGraphicFramePr/>
          <p:nvPr/>
        </p:nvGraphicFramePr>
        <p:xfrm>
          <a:off xmlns:a="http://schemas.openxmlformats.org/drawingml/2006/main" x="647700" y="2838450"/>
          <a:ext xmlns:a="http://schemas.openxmlformats.org/drawingml/2006/main" cx="10858500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096250"/>
              </a:tblGrid>
              <a:tr h="596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A 直接生成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需求、代码、统一测试规范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7D7"/>
                      </a:solidFill>
                      <a:prstDash val="solid"/>
                    </a:lnR>
                    <a:lnT w="9525">
                      <a:solidFill>
                        <a:srgbClr val="D7D7D7"/>
                      </a:solidFill>
                      <a:prstDash val="solid"/>
                    </a:lnT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B 告警引导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A + Bandit 告警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C 上下文引导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7D7"/>
                      </a:solidFill>
                      <a:prstDash val="solid"/>
                    </a:lnL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91919"/>
                          </a:solidFill>
                          <a:latin typeface="WenQuanYi Zen Hei"/>
                          <a:ea typeface="WenQuanYi Zen Hei"/>
                          <a:cs typeface="WenQuanYi Zen Hei"/>
                        </a:rPr>
                        <a:t>B + AST 风险函数与依赖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7D7"/>
                      </a:solidFill>
                      <a:prstDash val="solid"/>
                    </a:lnR>
                    <a:lnB w="9525">
                      <a:solidFill>
                        <a:srgbClr val="D7D7D7"/>
                      </a:solidFill>
                      <a:prstDash val="solid"/>
                    </a:lnB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3420E-7C75-4B59-BA06-5851FCD5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24 样本 × 3 组 × 3 重复；每次最多 3 次调用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A6DAF-3194-4AB1-AFFC-E1FD09AE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1081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1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模型实验尚未运行。断言错误与超时不计漏洞。</a:t>
            </a:r>
          </a:p>
        </p:txBody>
      </p:sp>
    </p:spTree>
    <p:extLst>
      <p:ext uri="{BB962C8B-B14F-4D97-AF65-F5344CB8AC3E}">
        <p14:creationId xmlns:p14="http://schemas.microsoft.com/office/powerpoint/2010/main" val="14958872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5BA80-F1C2-452E-A320-7B76FC1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06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DC620-0465-4DDD-9E73-E1788EF1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实际进展与当前局限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6F18E-C981-4602-9CEC-19A3B4DF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47825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已完成：原型、冻结样本、参考验证、服务器三类复现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E6B27-6F95-467F-88DA-52EBD9D5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0810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负责人：方法与集成；动态负责人：隔离与案例</a:t>
            </a:r>
          </a:p>
          <a:p xmlns:a="http://schemas.openxmlformats.org/drawingml/2006/main">
            <a:pPr>
              <a:def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数据负责人：标签、统计与报告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A3588-B583-43B2-A3D6-73B02AE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810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局限：单文件、统一入口、人工模板相似</a:t>
            </a:r>
          </a:p>
          <a:p xmlns:a="http://schemas.openxmlformats.org/drawingml/2006/main">
            <a:pPr>
              <a:def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325" b="0">
                <a:solidFill>
                  <a:srgbClr val="555555"/>
                </a:solidFill>
                <a:latin typeface="WenQuanYi Zen Hei"/>
                <a:ea typeface="WenQuanYi Zen Hei"/>
                <a:cs typeface="WenQuanYi Zen Hei"/>
              </a:rPr>
              <a:t>两人标签复核与真实模型实验仍待完成</a:t>
            </a:r>
          </a:p>
        </p:txBody>
      </p:sp>
    </p:spTree>
    <p:extLst>
      <p:ext uri="{BB962C8B-B14F-4D97-AF65-F5344CB8AC3E}">
        <p14:creationId xmlns:p14="http://schemas.microsoft.com/office/powerpoint/2010/main" val="12166225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34794-2988-4CD5-8567-ADF215E5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103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1500" b="0">
                <a:solidFill>
                  <a:srgbClr val="777777"/>
                </a:solidFill>
                <a:latin typeface="WenQuanYi Zen Hei"/>
                <a:ea typeface="WenQuanYi Zen Hei"/>
                <a:cs typeface="WenQuanYi Zen Hei"/>
              </a:rPr>
              <a:t>07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26C16-B79C-4901-A2A5-C0D5D16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345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下一阶段安排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3DA64B-9D97-48F6-80E5-0657534C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1450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1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先测开发集成本，再完成正式 A/B/C 批次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5641-10F4-474A-A7E4-09FE5E3A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1462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100 元预算上限，原始日志重建结论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9C811-FBC4-4CD4-A94D-9AAE761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补充独立来源样本，复核失败与边界情况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6E856-4842-47F4-A006-E6F80836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148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defPPr>
            <a:lvl1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1pPr>
            <a:lvl2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2pPr>
            <a:lvl3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3pPr>
            <a:lvl4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4pPr>
            <a:lvl5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5pPr>
            <a:lvl6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6pPr>
            <a:lvl7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7pPr>
            <a:lvl8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8pPr>
            <a:lvl9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defRPr>
            </a:pPr>
            <a:r>
              <a:rPr sz="2400" b="0">
                <a:solidFill>
                  <a:srgbClr val="191919"/>
                </a:solidFill>
                <a:latin typeface="WenQuanYi Zen Hei"/>
                <a:ea typeface="WenQuanYi Zen Hei"/>
                <a:cs typeface="WenQuanYi Zen Hei"/>
              </a:rPr>
              <a:t>完成两轮计时演练，目标 4 分 40 秒至 4 分 50 秒</a:t>
            </a:r>
          </a:p>
        </p:txBody>
      </p:sp>
    </p:spTree>
    <p:extLst>
      <p:ext uri="{BB962C8B-B14F-4D97-AF65-F5344CB8AC3E}">
        <p14:creationId xmlns:p14="http://schemas.microsoft.com/office/powerpoint/2010/main" val="1119698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WenQuanYi Zen Hei"/>
        <a:ea typeface=""/>
        <a:cs typeface=""/>
      </a:majorFont>
      <a:minorFont>
        <a:latin typeface="WenQuanYi Zen 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2026-10-21T10:23:51.0490000Z</dcterms:created>
  <dcterms:modified xsi:type="dcterms:W3CDTF">2026-10-21T10:23:51.0490000Z</dcterms:modified>
</coreProperties>
</file>