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1a870a01ea4d72" /><Relationship Type="http://schemas.openxmlformats.org/officeDocument/2006/relationships/extended-properties" Target="/docProps/app.xml" Id="R0660a8cfc4864b62" /><Relationship Type="http://schemas.openxmlformats.org/officeDocument/2006/relationships/officeDocument" Target="/ppt/presentation.xml" Id="R9bef48adb1584b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18125f2ac247f2"/>
    <p:sldMasterId xmlns:r="http://schemas.openxmlformats.org/officeDocument/2006/relationships" id="2147483655" r:id="R373cb2d4e50343a4"/>
  </p:sldMasterIdLst>
  <p:notesMasterIdLst>
    <p:notesMasterId xmlns:r="http://schemas.openxmlformats.org/officeDocument/2006/relationships" r:id="R3378269e4d204dfa"/>
  </p:notesMasterIdLst>
  <p:sldIdLst>
    <p:sldId xmlns:r="http://schemas.openxmlformats.org/officeDocument/2006/relationships" id="256" r:id="R70f9e5da16324b32"/>
    <p:sldId xmlns:r="http://schemas.openxmlformats.org/officeDocument/2006/relationships" id="257" r:id="Rc9da211631be4ccd"/>
    <p:sldId xmlns:r="http://schemas.openxmlformats.org/officeDocument/2006/relationships" id="258" r:id="R259f2d8bf5b441e1"/>
    <p:sldId xmlns:r="http://schemas.openxmlformats.org/officeDocument/2006/relationships" id="259" r:id="R40d0f4fecba44de1"/>
    <p:sldId xmlns:r="http://schemas.openxmlformats.org/officeDocument/2006/relationships" id="260" r:id="Ra3bc1e15c78e45bf"/>
    <p:sldId xmlns:r="http://schemas.openxmlformats.org/officeDocument/2006/relationships" id="261" r:id="R25fceb8081f0413a"/>
    <p:sldId xmlns:r="http://schemas.openxmlformats.org/officeDocument/2006/relationships" id="262" r:id="Rd6c1c25578ee40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bb1f3774d3409c" /><Relationship Type="http://schemas.openxmlformats.org/officeDocument/2006/relationships/slideMaster" Target="/ppt/slideMasters/slideMaster1.xml" Id="Re918125f2ac247f2" /><Relationship Type="http://schemas.openxmlformats.org/officeDocument/2006/relationships/slideMaster" Target="/ppt/slideMasters/slideMaster2.xml" Id="R373cb2d4e50343a4" /><Relationship Type="http://schemas.openxmlformats.org/officeDocument/2006/relationships/notesMaster" Target="/ppt/notesMasters/notesMaster1.xml" Id="R3378269e4d204dfa" /><Relationship Type="http://schemas.openxmlformats.org/officeDocument/2006/relationships/presProps" Target="/ppt/presProps.xml" Id="Rcad3b13bad114000" /><Relationship Type="http://schemas.openxmlformats.org/officeDocument/2006/relationships/tableStyles" Target="/ppt/tableStyles.xml" Id="Ra8ba57c87a56436c" /><Relationship Type="http://schemas.openxmlformats.org/officeDocument/2006/relationships/slide" Target="/ppt/slides/slide1.xml" Id="R70f9e5da16324b32" /><Relationship Type="http://schemas.openxmlformats.org/officeDocument/2006/relationships/slide" Target="/ppt/slides/slide2.xml" Id="Rc9da211631be4ccd" /><Relationship Type="http://schemas.openxmlformats.org/officeDocument/2006/relationships/slide" Target="/ppt/slides/slide3.xml" Id="R259f2d8bf5b441e1" /><Relationship Type="http://schemas.openxmlformats.org/officeDocument/2006/relationships/slide" Target="/ppt/slides/slide4.xml" Id="R40d0f4fecba44de1" /><Relationship Type="http://schemas.openxmlformats.org/officeDocument/2006/relationships/slide" Target="/ppt/slides/slide5.xml" Id="Ra3bc1e15c78e45bf" /><Relationship Type="http://schemas.openxmlformats.org/officeDocument/2006/relationships/slide" Target="/ppt/slides/slide6.xml" Id="R25fceb8081f0413a" /><Relationship Type="http://schemas.openxmlformats.org/officeDocument/2006/relationships/slide" Target="/ppt/slides/slide7.xml" Id="Rd6c1c25578ee40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2bc2b7c4362b4c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3d8cdbaa7f4389" /><Relationship Type="http://schemas.openxmlformats.org/officeDocument/2006/relationships/notesMaster" Target="/ppt/notesMasters/notesMaster1.xml" Id="R193d51287b0643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45bcce09a4164" /><Relationship Type="http://schemas.openxmlformats.org/officeDocument/2006/relationships/notesMaster" Target="/ppt/notesMasters/notesMaster1.xml" Id="R6c9c7bebac3447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abdcd637294b8d" /><Relationship Type="http://schemas.openxmlformats.org/officeDocument/2006/relationships/notesMaster" Target="/ppt/notesMasters/notesMaster1.xml" Id="R5f36fce53e7c4f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6b13da4b5f4f64" /><Relationship Type="http://schemas.openxmlformats.org/officeDocument/2006/relationships/notesMaster" Target="/ppt/notesMasters/notesMaster1.xml" Id="R2c386a398b2640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00256df06e489c" /><Relationship Type="http://schemas.openxmlformats.org/officeDocument/2006/relationships/notesMaster" Target="/ppt/notesMasters/notesMaster1.xml" Id="R897c9cb862fe42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517d93be0e4079" /><Relationship Type="http://schemas.openxmlformats.org/officeDocument/2006/relationships/notesMaster" Target="/ppt/notesMasters/notesMaster1.xml" Id="R4dfa041e136d4a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f82987cd824b25" /><Relationship Type="http://schemas.openxmlformats.org/officeDocument/2006/relationships/notesMaster" Target="/ppt/notesMasters/notesMaster1.xml" Id="R6ad5fdd27afd45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的项目是基于程序分析的代码智能体安全性测试Harness构建方法。中期聚焦一个问题：在相同模型和调用上限下，静态分析给出的风险位置与函数上下文，能否帮助模型生成更有效的Python安全测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本页预算 25 秒。</a:t>
            </a:r>
          </a:p>
          <a:p xmlns:a="http://schemas.openxmlformats.org/drawingml/2006/main">
            <a:r>
              <a:t>证据：results/frozen-20261022/analysis.json；results/private/frozen-eval-20261022/；results/reference/。全量216次，主要比较207次，规则在首次网络失败后续跑前记录。小样本描述性比较，非显著性证明。</a:t>
            </a:r>
          </a:p>
          <a:p xmlns:a="http://schemas.openxmlformats.org/drawingml/2006/main">
            <a:r>
              <a:t>参考：CoverUp https://arxiv.org/abs/2403.16218 ；SecurityEval https://lsiddiqsunny.github.io/public/securityeval.pdf ；Oracle Survey https://discovery.ucl.ac.uk/id/eprint/1471263/ 。工具：https://bandit.readthedocs.io/en/latest/ ；https://github.com/deepseek-ai/deepseek-harness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进度落后于开题安排，我们保留题目，收敛到路径穿越、命令注入和SQL注入。Bandit提供静态疑点，实际是否违规还需要执行证据。因此先完成局部分析和动态验证，符号执行、自动修复与跨语言延期，并如实说明范围调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本页预算 35 秒。</a:t>
            </a:r>
          </a:p>
          <a:p xmlns:a="http://schemas.openxmlformats.org/drawingml/2006/main">
            <a:r>
              <a:t>证据：results/frozen-20261022/analysis.json；results/private/frozen-eval-20261022/；results/reference/。全量216次，主要比较207次，规则在首次网络失败后续跑前记录。小样本描述性比较，非显著性证明。</a:t>
            </a:r>
          </a:p>
          <a:p xmlns:a="http://schemas.openxmlformats.org/drawingml/2006/main">
            <a:r>
              <a:t>参考：CoverUp https://arxiv.org/abs/2403.16218 ；SecurityEval https://lsiddiqsunny.github.io/public/securityeval.pdf ；Oracle Survey https://discovery.ucl.ac.uk/id/eprint/1471263/ 。工具：https://bandit.readthedocs.io/en/latest/ ；https://github.com/deepseek-ai/deepseek-harness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从Python代码开始，复用Bandit扫描，再用AST整理风险函数、签名和导入。模型生成测试输入，也可以使用Hypothesis扩展边界。统一探针负责调用入口、临时资源和安全断言，避免把错误断言当作攻击成功。代码在无网络、非特权容器内执行并限制资源。自主实现集中在上下文组织、探针、证据记录和对照实验。主实验使用直接API，DeepSeek Harness仅完成固定版本SDK和MCP启动验证，完整模型工具回合还未验证。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本页预算 55 秒。</a:t>
            </a:r>
          </a:p>
          <a:p xmlns:a="http://schemas.openxmlformats.org/drawingml/2006/main">
            <a:r>
              <a:t>证据：results/frozen-20261022/analysis.json；results/private/frozen-eval-20261022/；results/reference/。全量216次，主要比较207次，规则在首次网络失败后续跑前记录。小样本描述性比较，非显著性证明。</a:t>
            </a:r>
          </a:p>
          <a:p xmlns:a="http://schemas.openxmlformats.org/drawingml/2006/main">
            <a:r>
              <a:t>参考：CoverUp https://arxiv.org/abs/2403.16218 ；SecurityEval https://lsiddiqsunny.github.io/public/securityeval.pdf ；Oracle Survey https://discovery.ucl.ac.uk/id/eprint/1471263/ 。工具：https://bandit.readthedocs.io/en/latest/ ；https://github.com/deepseek-ai/deepseek-harness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路径穿越案例。人工参考测试输入点点斜杠secret.txt。缺陷版直接拼接路径，读到公共目录外的随机哨兵，探针记录违规。修复版规范化路径并校验边界，同一测试不再触发。现在播放二十秒的真实记录回放。这证明执行和判定链路能够工作，模型效果则由下一页对照实验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本页预算 45 秒。配套录像为人工参考测试记录回放，20秒静音。</a:t>
            </a:r>
          </a:p>
          <a:p xmlns:a="http://schemas.openxmlformats.org/drawingml/2006/main">
            <a:r>
              <a:t>证据：results/frozen-20261022/analysis.json；results/private/frozen-eval-20261022/；results/reference/。全量216次，主要比较207次，规则在首次网络失败后续跑前记录。小样本描述性比较，非显著性证明。</a:t>
            </a:r>
          </a:p>
          <a:p xmlns:a="http://schemas.openxmlformats.org/drawingml/2006/main">
            <a:r>
              <a:t>参考：CoverUp https://arxiv.org/abs/2403.16218 ；SecurityEval https://lsiddiqsunny.github.io/public/securityeval.pdf ；Oracle Survey https://discovery.ucl.ac.uk/id/eprint/1471263/ 。工具：https://bandit.readthedocs.io/en/latest/ ；https://github.com/deepseek-ai/deepseek-harness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评测包含二十四个冻结样本，每组重复三次，共二百一十六次试验。A组直接生成，B组增加告警，C组再增加AST上下文。网络失败保守计入调用上限，剔除超额试验所在的整个匹配块后，各组保留69次，分别配对复现61、62和67次。全量结果也单独保留。这里是人工模板和单模型条件下的观察，不能宣称普遍提升。失败案例中，程序只拦截以点点斜杠开头的路径，但三组某轮都没想到在前面加点斜杠来绕过。因此测试通过只代表这次没找到违规，不能直接证明代码安全。报告同时公布误报、未判定、覆盖率、Token与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本页预算 75 秒。</a:t>
            </a:r>
          </a:p>
          <a:p xmlns:a="http://schemas.openxmlformats.org/drawingml/2006/main">
            <a:r>
              <a:t>证据：results/frozen-20261022/analysis.json；results/private/frozen-eval-20261022/；results/reference/。全量216次，主要比较207次，规则在首次网络失败后续跑前记录。小样本描述性比较，非显著性证明。</a:t>
            </a:r>
          </a:p>
          <a:p xmlns:a="http://schemas.openxmlformats.org/drawingml/2006/main">
            <a:r>
              <a:t>参考：CoverUp https://arxiv.org/abs/2403.16218 ；SecurityEval https://lsiddiqsunny.github.io/public/securityeval.pdf ；Oracle Survey https://discovery.ucl.ac.uk/id/eprint/1471263/ 。工具：https://bandit.readthedocs.io/en/latest/ ；https://github.com/deepseek-ai/deepseek-harness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原型、三类参考案例和冻结对照已经完成。十二份正常需求的真实模型输出也全部保留，但仍待两人独立标签和正常功能验收。负责人主抓方法与集成，动态负责人负责隔离与案例，数据负责人负责统计与材料。我们也明确单文件、模板相似和同进程探针的局限，成员须理解并复核AI辅助产物。三十组人工样本只用于可控验证，不能记作模型生成成果。正常需求输出即使安全或功能不完整，也都纳入记录，未知标签不会被删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本页预算 35 秒。</a:t>
            </a:r>
          </a:p>
          <a:p xmlns:a="http://schemas.openxmlformats.org/drawingml/2006/main">
            <a:r>
              <a:t>证据：results/frozen-20261022/analysis.json；results/private/frozen-eval-20261022/；results/reference/。全量216次，主要比较207次，规则在首次网络失败后续跑前记录。小样本描述性比较，非显著性证明。</a:t>
            </a:r>
          </a:p>
          <a:p xmlns:a="http://schemas.openxmlformats.org/drawingml/2006/main">
            <a:r>
              <a:t>参考：CoverUp https://arxiv.org/abs/2403.16218 ；SecurityEval https://lsiddiqsunny.github.io/public/securityeval.pdf ；Oracle Survey https://discovery.ucl.ac.uk/id/eprint/1471263/ 。工具：https://bandit.readthedocs.io/en/latest/ ；https://github.com/deepseek-ai/deepseek-harness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期前要补齐双人复核和两轮真人计时。之后先引入独立来源样本，建立功能与安全双重判据，再研究输入到敏感调用的局部依赖上下文。实验保留强直接生成基线，做去反馈、去依赖的消融并比较成本。只有失败分析证明路径约束是主要障碍时，再开展有界符号执行试验。谢谢各位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本页预算 30 秒。</a:t>
            </a:r>
          </a:p>
          <a:p xmlns:a="http://schemas.openxmlformats.org/drawingml/2006/main">
            <a:r>
              <a:t>证据：results/frozen-20261022/analysis.json；results/private/frozen-eval-20261022/；results/reference/。全量216次，主要比较207次，规则在首次网络失败后续跑前记录。小样本描述性比较，非显著性证明。</a:t>
            </a:r>
          </a:p>
          <a:p xmlns:a="http://schemas.openxmlformats.org/drawingml/2006/main">
            <a:r>
              <a:t>参考：CoverUp https://arxiv.org/abs/2403.16218 ；SecurityEval https://lsiddiqsunny.github.io/public/securityeval.pdf ；Oracle Survey https://discovery.ucl.ac.uk/id/eprint/1471263/ 。工具：https://bandit.readthedocs.io/en/latest/ ；https://github.com/deepseek-ai/deepseek-harness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eb528c3bf743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a11e0f9cd4f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c83c7a3964e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c5831ed11442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8c21ba042b49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85004e5394a0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1657b50a1346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43301608d9c40a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1693a31c9d54da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4e67be4a68431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2c58002a584ad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2fa131dd9f46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A7E72D-EAF7-42AB-A06A-AB6161012D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71D797-172A-438E-AE15-3FB4FE7190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BEB3664-67D1-4312-B269-D458FA606B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9CC56E-9D0D-4307-A01C-A582EE658C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5A6610-E90B-45F3-8F3D-8AF63036E4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A015B6-C65B-412E-BE35-862988225C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0BD909-57A6-4774-BCF2-5CC0F31B82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6AC2044-B960-4EED-966B-940BF189F6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872D14-F46E-458C-9F1C-8EA5B71432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707A52F-9E8B-4CAA-ABE4-FE18D58E09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28A1D3-BF47-429A-86CB-9440008A3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FD54A0-01C3-4819-BB53-66D99B6A0B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81AB9F-E304-4C80-86BA-24287A655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9BAC2F-153E-4649-BCC1-E453D1BF1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A5F0F0-E91A-4A0C-AC7E-FCDE88296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16823F-510D-441B-8040-EF7B92655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66A9CD-B357-4E3C-9875-A5FD002502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0F964E-2205-4EA8-BB91-1E0925FF0D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ED6986-AE0A-466E-B07D-46422024B4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F38D5C-853C-4281-BE8C-0547AFDFB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bfb85dbc64b59" /><Relationship Type="http://schemas.openxmlformats.org/officeDocument/2006/relationships/slideLayout" Target="/ppt/slideLayouts/slideLayout1.xml" Id="R92899aa017f34478" /><Relationship Type="http://schemas.openxmlformats.org/officeDocument/2006/relationships/slideLayout" Target="/ppt/slideLayouts/slideLayout2.xml" Id="R0c510888559e4400" /><Relationship Type="http://schemas.openxmlformats.org/officeDocument/2006/relationships/slideLayout" Target="/ppt/slideLayouts/slideLayout3.xml" Id="R09f849c01b1647a1" /><Relationship Type="http://schemas.openxmlformats.org/officeDocument/2006/relationships/slideLayout" Target="/ppt/slideLayouts/slideLayout4.xml" Id="R069605fae15b4427" /><Relationship Type="http://schemas.openxmlformats.org/officeDocument/2006/relationships/slideLayout" Target="/ppt/slideLayouts/slideLayout5.xml" Id="R9e47c3eed7f340f5" /><Relationship Type="http://schemas.openxmlformats.org/officeDocument/2006/relationships/slideLayout" Target="/ppt/slideLayouts/slideLayout6.xml" Id="Rd62d5fadbb404d3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5a4f78841514a5b" /><Relationship Type="http://schemas.openxmlformats.org/officeDocument/2006/relationships/slideLayout" Target="/ppt/slideLayouts/slideLayout7.xml" Id="R450c1820992045b0" /><Relationship Type="http://schemas.openxmlformats.org/officeDocument/2006/relationships/slideLayout" Target="/ppt/slideLayouts/slideLayout8.xml" Id="R306f15ace6764c5f" /><Relationship Type="http://schemas.openxmlformats.org/officeDocument/2006/relationships/slideLayout" Target="/ppt/slideLayouts/slideLayout9.xml" Id="R5b281471c3034afa" /><Relationship Type="http://schemas.openxmlformats.org/officeDocument/2006/relationships/slideLayout" Target="/ppt/slideLayouts/slideLayout10.xml" Id="R58bf054c5bc14f17" /><Relationship Type="http://schemas.openxmlformats.org/officeDocument/2006/relationships/slideLayout" Target="/ppt/slideLayouts/slideLayout11.xml" Id="R7a2e218adb72415f" /><Relationship Type="http://schemas.openxmlformats.org/officeDocument/2006/relationships/slideLayout" Target="/ppt/slideLayouts/slideLayout12.xml" Id="R160754aceb274e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899aa017f34478"/>
    <p:sldLayoutId xmlns:r="http://schemas.openxmlformats.org/officeDocument/2006/relationships" id="2147483650" r:id="R0c510888559e4400"/>
    <p:sldLayoutId xmlns:r="http://schemas.openxmlformats.org/officeDocument/2006/relationships" id="2147483651" r:id="R09f849c01b1647a1"/>
    <p:sldLayoutId xmlns:r="http://schemas.openxmlformats.org/officeDocument/2006/relationships" id="2147483652" r:id="R069605fae15b4427"/>
    <p:sldLayoutId xmlns:r="http://schemas.openxmlformats.org/officeDocument/2006/relationships" id="2147483653" r:id="R9e47c3eed7f340f5"/>
    <p:sldLayoutId xmlns:r="http://schemas.openxmlformats.org/officeDocument/2006/relationships" id="2147483654" r:id="Rd62d5fadbb404d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450c1820992045b0"/>
    <p:sldLayoutId xmlns:r="http://schemas.openxmlformats.org/officeDocument/2006/relationships" id="2147483657" r:id="R306f15ace6764c5f"/>
    <p:sldLayoutId xmlns:r="http://schemas.openxmlformats.org/officeDocument/2006/relationships" id="2147483658" r:id="R5b281471c3034afa"/>
    <p:sldLayoutId xmlns:r="http://schemas.openxmlformats.org/officeDocument/2006/relationships" id="2147483659" r:id="R58bf054c5bc14f17"/>
    <p:sldLayoutId xmlns:r="http://schemas.openxmlformats.org/officeDocument/2006/relationships" id="2147483660" r:id="R7a2e218adb72415f"/>
    <p:sldLayoutId xmlns:r="http://schemas.openxmlformats.org/officeDocument/2006/relationships" id="2147483661" r:id="R160754aceb274e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WenQuanYi Zen Hei"/>
        <a:ea typeface=""/>
        <a:cs typeface=""/>
      </a:majorFont>
      <a:minorFont>
        <a:latin typeface="WenQuanYi Zen 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4643c079f94161" /><Relationship Type="http://schemas.openxmlformats.org/officeDocument/2006/relationships/notesSlide" Target="/ppt/notesSlides/notesSlide1.xml" Id="R3fea4781d8134f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808c99aa8ba4faa" /><Relationship Type="http://schemas.openxmlformats.org/officeDocument/2006/relationships/notesSlide" Target="/ppt/notesSlides/notesSlide2.xml" Id="R6ce535b5695d49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d784e97faee4c01" /><Relationship Type="http://schemas.openxmlformats.org/officeDocument/2006/relationships/notesSlide" Target="/ppt/notesSlides/notesSlide3.xml" Id="R53396285507a43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0406ca9725f4eb8" /><Relationship Type="http://schemas.openxmlformats.org/officeDocument/2006/relationships/notesSlide" Target="/ppt/notesSlides/notesSlide4.xml" Id="R47d06978449442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01ab01dbbc14472" /><Relationship Type="http://schemas.openxmlformats.org/officeDocument/2006/relationships/notesSlide" Target="/ppt/notesSlides/notesSlide5.xml" Id="Rfcebdfa6ae224b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50535c5643845dd" /><Relationship Type="http://schemas.openxmlformats.org/officeDocument/2006/relationships/notesSlide" Target="/ppt/notesSlides/notesSlide6.xml" Id="R44d21a3ffd6e48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2420cd7002243da" /><Relationship Type="http://schemas.openxmlformats.org/officeDocument/2006/relationships/notesSlide" Target="/ppt/notesSlides/notesSlide7.xml" Id="R0ee4dced6c604a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00C9E-2DF4-4F97-8D4C-AE51DE8B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01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65D82-4E73-424A-9555-CF67FF7B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基于程序分析的代码智能体</a:t>
            </a:r>
          </a:p>
          <a:p xmlns:a="http://schemas.openxmlformats.org/drawingml/2006/main">
            <a:pPr>
              <a:buNone/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安全性测试 Harness 构建方法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9221E-C42C-4D5E-90C0-E7956337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大创中期汇报 · Python 安全测试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BA66B-42F7-479E-820F-F06B8928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相同模型与调用预算下，风险位置和函数上下文</a:t>
            </a:r>
          </a:p>
          <a:p xmlns:a="http://schemas.openxmlformats.org/drawingml/2006/main">
            <a:pPr>
              <a:buNone/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能否帮助模型生成更有效的安全测试？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2FE38-ECED-4A05-BEFE-568E9756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中期研究范围：路径穿越 · 命令注入 · SQL 注入</a:t>
            </a:r>
          </a:p>
        </p:txBody>
      </p:sp>
    </p:spTree>
    <p:extLst>
      <p:ext uri="{BB962C8B-B14F-4D97-AF65-F5344CB8AC3E}">
        <p14:creationId xmlns:p14="http://schemas.microsoft.com/office/powerpoint/2010/main" val="11727236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F7D88-7FF7-4294-B8BD-EB4CF61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02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6CC3A-770D-4D22-8406-265BF0E4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中期范围与问题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0272D-0649-460E-AF59-422CD20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首阶段：路径穿越、命令注入、SQL 注入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BA889-417C-4424-8CE1-1D9367A4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静态告警提供线索，实际违规需要执行证据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845CF-34FA-40E2-A949-89E08F3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局部函数分析与受限测试生成已实现</a:t>
            </a:r>
          </a:p>
          <a:p xmlns:a="http://schemas.openxmlformats.org/drawingml/2006/main">
            <a:pPr>
              <a:buNone/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符号执行、自动修复、跨语言留到后续</a:t>
            </a:r>
          </a:p>
        </p:txBody>
      </p:sp>
    </p:spTree>
    <p:extLst>
      <p:ext uri="{BB962C8B-B14F-4D97-AF65-F5344CB8AC3E}">
        <p14:creationId xmlns:p14="http://schemas.microsoft.com/office/powerpoint/2010/main" val="79226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8EE25-798D-4DCA-976C-5E25766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03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F0CFE-8CD4-4DB8-8EB5-DFB2D16F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技术路线与自主实现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B45BF-7742-4177-AA2D-D93946C7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01  Bandit 告警与 AST 函数上下文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2D03D-2405-4031-B03C-63007B16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02  模型选择测试输入，支持 Hypothesis 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8E897-5751-47DC-AA75-B4DC0E05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03  rootless 无网络容器执行，可信 probe 判定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EC27D-D3ED-411D-B150-FD780E95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04  JSON 留存证据，CSV 重建实验统计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2A29E-906F-4D94-82B4-29FEF181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自主实现：上下文组织、可信探针、隔离证据与对照实验</a:t>
            </a:r>
          </a:p>
        </p:txBody>
      </p:sp>
    </p:spTree>
    <p:extLst>
      <p:ext uri="{BB962C8B-B14F-4D97-AF65-F5344CB8AC3E}">
        <p14:creationId xmlns:p14="http://schemas.microsoft.com/office/powerpoint/2010/main" val="4861690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78877-C591-46AE-AB91-AFD3A063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04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EDB86-3C1B-4C23-8439-3D60F460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路径穿越的配对复现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2EFA6-E219-4D38-8E3C-9E48A82E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输入  ../secret.txt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06AAC-87BC-46DE-AA17-E69B5878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缺陷版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9B199-F4EF-4E80-897F-F8C3601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open(join(root, value))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F19FE-4E86-432F-AD1D-56651CC0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返回目录外哨兵内容</a:t>
            </a:r>
          </a:p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判定：violation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380FC-E3BF-49D0-A361-E17D33B9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修复版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1276E-DBA9-4419-90E1-6CE0DBAF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resolve + is_relative_to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3D08F-1911-4B20-A957-473351D7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拒绝越界路径</a:t>
            </a:r>
          </a:p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判定：pass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AA7EA-2899-4248-AD83-3D6706F8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播放配套 20 秒录像：人工参考测试的真实记录回放</a:t>
            </a:r>
          </a:p>
        </p:txBody>
      </p:sp>
    </p:spTree>
    <p:extLst>
      <p:ext uri="{BB962C8B-B14F-4D97-AF65-F5344CB8AC3E}">
        <p14:creationId xmlns:p14="http://schemas.microsoft.com/office/powerpoint/2010/main" val="313212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33949-CDA2-40A7-B1E0-4EF9A2B6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05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DCB47-F687-41A7-B6BD-AF1AA7B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冻结评测结果与失败案例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DF178-D786-4B54-A581-25E99E61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216 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CF9E0-7FA4-4A3C-A152-3642DFC4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24 个冻结样本，每组重复 3 次</a:t>
            </a:r>
          </a:p>
          <a:p xmlns:a="http://schemas.openxmlformats.org/drawingml/2006/main">
            <a:pPr>
              <a:buNone/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主要比较每组保留 69 次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EBC6D-DB4A-4816-B331-D417CCAE92D1}"/>
              </a:ext>
            </a:extLst>
          </p:cNvPr>
          <p:cNvGraphicFramePr/>
          <p:nvPr/>
        </p:nvGraphicFramePr>
        <p:xfrm>
          <a:off xmlns:a="http://schemas.openxmlformats.org/drawingml/2006/main" x="647700" y="2838450"/>
          <a:ext xmlns:a="http://schemas.openxmlformats.org/drawingml/2006/main" cx="10858500" cy="1790700"/>
        </p:xfrm>
        <a:graphic xmlns:a="http://schemas.openxmlformats.org/drawingml/2006/main"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2250"/>
                <a:gridCol w="8096250"/>
              </a:tblGrid>
              <a:tr h="596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A 直接生成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61/69 配对复现（88.4%）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B 告警引导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62/69 配对复现（89.9%）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7D7"/>
                      </a:solidFill>
                      <a:prstDash val="solid"/>
                    </a:lnR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C 上下文引导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67/69 配对复现（97.1%）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7D7"/>
                      </a:solidFill>
                      <a:prstDash val="solid"/>
                    </a:lnR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3420E-7C75-4B59-BA06-5851FCD5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7 次网络失败计入预算，剔除 3 个超上限匹配块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A6DAF-3194-4AB1-AFFC-E1FD09AE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9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失败：path-10 三组某轮均漏掉 ./../secret.txt</a:t>
            </a:r>
          </a:p>
        </p:txBody>
      </p:sp>
    </p:spTree>
    <p:extLst>
      <p:ext uri="{BB962C8B-B14F-4D97-AF65-F5344CB8AC3E}">
        <p14:creationId xmlns:p14="http://schemas.microsoft.com/office/powerpoint/2010/main" val="608521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5BA80-F1C2-452E-A320-7B76FC10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06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DC620-0465-4DDD-9E73-E1788EF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实际进展与当前局限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6F18E-C981-4602-9CEC-19A3B4DF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已完成：原型、参考案例与 216 次冻结试验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E6B27-6F95-467F-88DA-52EBD9D5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0810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负责人：方法与集成；动态负责人：隔离与案例</a:t>
            </a:r>
          </a:p>
          <a:p xmlns:a="http://schemas.openxmlformats.org/drawingml/2006/main">
            <a:pPr>
              <a:buNone/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数据负责人：标签、统计与报告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A3588-B583-43B2-A3D6-73B02AE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810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局限：单文件、统一入口、人工模板相似</a:t>
            </a:r>
          </a:p>
          <a:p xmlns:a="http://schemas.openxmlformats.org/drawingml/2006/main">
            <a:pPr>
              <a:buNone/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12 份真实输出待双人复核与功能验收</a:t>
            </a:r>
          </a:p>
        </p:txBody>
      </p:sp>
    </p:spTree>
    <p:extLst>
      <p:ext uri="{BB962C8B-B14F-4D97-AF65-F5344CB8AC3E}">
        <p14:creationId xmlns:p14="http://schemas.microsoft.com/office/powerpoint/2010/main" val="2050674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34794-2988-4CD5-8567-ADF215E5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07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26C16-B79C-4901-A2A5-C0D5D16E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下一阶段安排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DA64B-9D97-48F6-80E5-0657534C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中期前：完成双人复核、正常功能与计时演练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A5641-10F4-474A-A7E4-09FE5E3A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中期后：独立来源样本，功能与安全双重判据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9C811-FBC4-4CD4-A94D-9AAE7617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研究重点：输入到敏感调用的局部依赖上下文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6E856-4842-47F4-A006-E6F80836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强基线、消融、成本比较后，再决定符号执行</a:t>
            </a:r>
          </a:p>
        </p:txBody>
      </p:sp>
    </p:spTree>
    <p:extLst>
      <p:ext uri="{BB962C8B-B14F-4D97-AF65-F5344CB8AC3E}">
        <p14:creationId xmlns:p14="http://schemas.microsoft.com/office/powerpoint/2010/main" val="2037138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2026-10-22T12:34:39.3280000Z</dcterms:created>
  <dcterms:modified xsi:type="dcterms:W3CDTF">2026-10-22T12:34:39.3280000Z</dcterms:modified>
</coreProperties>
</file>