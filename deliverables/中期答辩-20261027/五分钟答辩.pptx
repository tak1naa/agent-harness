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docProps/core.xml" Id="R57a8a952991a4c4e" /><ns0:Relationship Type="http://schemas.openxmlformats.org/officeDocument/2006/relationships/extended-properties" Target="docProps/app.xml" Id="R4f4e6d7fa6b4425f" /><ns0:Relationship Type="http://schemas.openxmlformats.org/officeDocument/2006/relationships/officeDocument" Target="ppt/presentation.xml" Id="R0c3c8aee4f0846ba" /></ns0: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f3e0ce36244409"/>
    <p:sldMasterId xmlns:r="http://schemas.openxmlformats.org/officeDocument/2006/relationships" id="2147483655" r:id="R4257ea3bd49648ff"/>
  </p:sldMasterIdLst>
  <p:notesMasterIdLst>
    <p:notesMasterId xmlns:r="http://schemas.openxmlformats.org/officeDocument/2006/relationships" r:id="R4aff372c835f4d33"/>
  </p:notesMasterIdLst>
  <p:sldIdLst>
    <p:sldId xmlns:r="http://schemas.openxmlformats.org/officeDocument/2006/relationships" id="256" r:id="R9bfc63e20936496b"/>
    <p:sldId xmlns:r="http://schemas.openxmlformats.org/officeDocument/2006/relationships" id="257" r:id="Rac8def850bbf45b6"/>
    <p:sldId xmlns:r="http://schemas.openxmlformats.org/officeDocument/2006/relationships" id="258" r:id="R8e4bc4bcf8d14c4f"/>
    <p:sldId xmlns:r="http://schemas.openxmlformats.org/officeDocument/2006/relationships" id="259" r:id="Red457ddd96b84ab3"/>
    <p:sldId xmlns:r="http://schemas.openxmlformats.org/officeDocument/2006/relationships" id="260" r:id="R674bf2057fca4982"/>
    <p:sldId xmlns:r="http://schemas.openxmlformats.org/officeDocument/2006/relationships" id="261" r:id="R64170de6ecb640da"/>
    <p:sldId xmlns:r="http://schemas.openxmlformats.org/officeDocument/2006/relationships" id="262" r:id="R0a04264d86c741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theme/theme1.xml" Id="Rb2419fb3084c468b" /><ns0:Relationship Type="http://schemas.openxmlformats.org/officeDocument/2006/relationships/slideMaster" Target="slideMasters/slideMaster1.xml" Id="Rc8f3e0ce36244409" /><ns0:Relationship Type="http://schemas.openxmlformats.org/officeDocument/2006/relationships/slideMaster" Target="slideMasters/slideMaster2.xml" Id="R4257ea3bd49648ff" /><ns0:Relationship Type="http://schemas.openxmlformats.org/officeDocument/2006/relationships/notesMaster" Target="notesMasters/notesMaster1.xml" Id="R4aff372c835f4d33" /><ns0:Relationship Type="http://schemas.openxmlformats.org/officeDocument/2006/relationships/presProps" Target="presProps.xml" Id="R6adaf492b78f4998" /><ns0:Relationship Type="http://schemas.openxmlformats.org/officeDocument/2006/relationships/tableStyles" Target="tableStyles.xml" Id="R29aa450725cb4cf6" /><ns0:Relationship Type="http://schemas.openxmlformats.org/officeDocument/2006/relationships/slide" Target="slides/slide1.xml" Id="R9bfc63e20936496b" /><ns0:Relationship Type="http://schemas.openxmlformats.org/officeDocument/2006/relationships/slide" Target="slides/slide2.xml" Id="Rac8def850bbf45b6" /><ns0:Relationship Type="http://schemas.openxmlformats.org/officeDocument/2006/relationships/slide" Target="slides/slide3.xml" Id="R8e4bc4bcf8d14c4f" /><ns0:Relationship Type="http://schemas.openxmlformats.org/officeDocument/2006/relationships/slide" Target="slides/slide4.xml" Id="Red457ddd96b84ab3" /><ns0:Relationship Type="http://schemas.openxmlformats.org/officeDocument/2006/relationships/slide" Target="slides/slide5.xml" Id="R674bf2057fca4982" /><ns0:Relationship Type="http://schemas.openxmlformats.org/officeDocument/2006/relationships/slide" Target="slides/slide6.xml" Id="R64170de6ecb640da" /><ns0:Relationship Type="http://schemas.openxmlformats.org/officeDocument/2006/relationships/slide" Target="slides/slide7.xml" Id="R0a04264d86c74113" /></ns0:Relationships>
</file>

<file path=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4.xml" Id="R6a8c72aec9e2459c" /></ns0: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各位老师好，我们的项目是基于程序分析的代码智能体安全性测试Harness构建方法。中期研究的问题是：在相同模型和调用上限下，提供风险位置和函数上下文，能否帮助模型生成更有效的Python安全测试？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项目进度落后于开题安排，本阶段收敛到路径穿越、命令注入和SQL注入。静态工具先定位可疑位置，再通过执行检查是否发生违规。例如路径穿越需要读到指定目录外的内容，普通异常不能作为漏洞证据。目前已实现局部分析和动态验证，符号执行、自动修复与跨语言留到后续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程序读取代码后，用Bandit扫描告警，再通过AST整理风险函数、签名和导入。模型据此生成测试输入，在无网络、非特权容器中执行。统一探针准备临时文件或数据库，检查实际违规。未触发时，将缺陷版反馈交给模型，最多修订两次，只修改测试。最终保存日志和哈希并生成统计。自主实现主要包括上下文组织、配对判定、受控执行及证据记录；正式实验直接调用API，官方Harness SDK已完成初始化和MCP启动验证。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路径穿越样本为例，人工参考测试输入点点斜杠secret.txt。缺陷版直接拼接路径，读取到公共目录外的随机哨兵，记录为违规。修复版规范化路径并检查边界，拒绝这次访问，同一测试通过。两次执行使用相同测试，因此可以核对修复前后的差异。这里验证的是执行和判定流程，模型生成测试的效果由对照实验评估。正常功能还需单独检查，避免把拒绝全部输入的实现判为合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动态评测分三组：A直接给源码，B增加告警，C再增加上下文。冻结评测共216次，计入网络失败并剔除三个超预算匹配块后，每组保留69次，分别复现61、62和67次。补充试跑为20、22和22次，分母均为24，B与C持平。右侧是SecurityEval静态诊断，121份代码中53份有任一线索，尚未执行目标代码。两种指标分别报告，也不能据此与主流Harness排名。失败案例中，三组某轮均遗漏了路径前缀绕过。现有结果限于人工模板和单一模型。试验次数包含重复运行，评测对象仍是二十四个程序，且存在相似模板，结论需要在更多来源验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客户端已支持通过对话读代码、查看分析结果、运行已知案例，并展示修改差异供用户审批。真实模型调用和路径穿越配对已经验证，当前采用项目自有Agent。负责人承担方法、集成与主讲，另外两位分别负责动态测试和数据材料。十二份真实生成代码已保留，动态验收和双人真人标签仍需完成；AI初审仅作为辅助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一阶段先完成真实输出的功能验收、安全测试和双人复核，再引入独立来源样本，研究输入到敏感调用的局部依赖。通过去依赖、去反馈和第二模型对照，分析上下文在哪些情况下有效，并比较每次成功的成本。若失败分析表明路径约束是主要障碍，再开展有界符号执行试验。谢谢各位老师。</a:t>
            </a:r>
          </a:p>
        </p:txBody>
      </p:sp>
    </p:spTree>
  </p:cSld>
  <p:clrMapOvr>
    <a:masterClrMapping/>
  </p:clrMapOvr>
</p:note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77fd33311c9e4cf2" /></ns0:Relationships>
</file>

<file path=ppt/slideLayouts/_rels/slideLayout2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f0075804bacd4f7f" /></ns0:Relationships>
</file>

<file path=ppt/slideLayouts/_rels/slideLayout3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2895c03c32fc4229" /></ns0:Relationships>
</file>

<file path=ppt/slideLayouts/_rels/slideLayout4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47527e765b5c4e9d" /></ns0:Relationships>
</file>

<file path=ppt/slideLayouts/_rels/slideLayout5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ae6482dd6a2f4cef" /></ns0:Relationships>
</file>

<file path=ppt/slideLayouts/_rels/slideLayout6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f5c46e5466d641dc" /></ns0:Relationships>
</file>

<file path=ppt/slideLayouts/_rels/slideLayout7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2.xml" Id="Re72accb5128440d8" /></ns0:Relationships>
</file>

<file path=ppt/slideLayouts/_rels/slideLayout8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2.xml" Id="R5dd9751cab5045ee" /></ns0:Relationships>
</file>

<file path=ppt/slideLayouts/_rels/slideLayout9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2.xml" Id="R2975fd888c3f4460" /></ns0:Relationships>
</file>

<file path=ppt/slideLayouts/_rels/slideLayout10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2.xml" Id="R67b2c5af45164047" /></ns0:Relationships>
</file>

<file path=ppt/slideLayouts/_rels/slideLayout1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2.xml" Id="Rcd87db640e0242f0" /></ns0:Relationships>
</file>

<file path=ppt/slideLayouts/_rels/slideLayout12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2.xml" Id="R23f9fa30acac4142" /></ns0: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A7E72D-EAF7-42AB-A06A-AB6161012D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71D797-172A-438E-AE15-3FB4FE7190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EB3664-67D1-4312-B269-D458FA606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9CC56E-9D0D-4307-A01C-A582EE658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5A6610-E90B-45F3-8F3D-8AF63036E4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A015B6-C65B-412E-BE35-862988225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0BD909-57A6-4774-BCF2-5CC0F31B82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AC2044-B960-4EED-966B-940BF189F6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872D14-F46E-458C-9F1C-8EA5B71432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07A52F-9E8B-4CAA-ABE4-FE18D58E09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28A1D3-BF47-429A-86CB-9440008A3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FD54A0-01C3-4819-BB53-66D99B6A0B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81AB9F-E304-4C80-86BA-24287A655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9BAC2F-153E-4649-BCC1-E453D1BF1E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A5F0F0-E91A-4A0C-AC7E-FCDE882963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16823F-510D-441B-8040-EF7B926558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66A9CD-B357-4E3C-9875-A5FD002502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0F964E-2205-4EA8-BB91-1E0925FF0D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ED6986-AE0A-466E-B07D-46422024B4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F38D5C-853C-4281-BE8C-0547AFDFBB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theme/theme2.xml" Id="R2c26970efb524013" /><ns0:Relationship Type="http://schemas.openxmlformats.org/officeDocument/2006/relationships/slideLayout" Target="../slideLayouts/slideLayout1.xml" Id="Rf47081dddd53491b" /><ns0:Relationship Type="http://schemas.openxmlformats.org/officeDocument/2006/relationships/slideLayout" Target="../slideLayouts/slideLayout2.xml" Id="Rd60590a2451a4806" /><ns0:Relationship Type="http://schemas.openxmlformats.org/officeDocument/2006/relationships/slideLayout" Target="../slideLayouts/slideLayout3.xml" Id="R27e1fb4aba964319" /><ns0:Relationship Type="http://schemas.openxmlformats.org/officeDocument/2006/relationships/slideLayout" Target="../slideLayouts/slideLayout4.xml" Id="Re83471a99c014011" /><ns0:Relationship Type="http://schemas.openxmlformats.org/officeDocument/2006/relationships/slideLayout" Target="../slideLayouts/slideLayout5.xml" Id="R9a1fb3b1a19b4bf0" /><ns0:Relationship Type="http://schemas.openxmlformats.org/officeDocument/2006/relationships/slideLayout" Target="../slideLayouts/slideLayout6.xml" Id="R2f8af99e9db5411a" /></ns0:Relationships>
</file>

<file path=ppt/slideMasters/_rels/slideMaster2.xml.rels><?xml version='1.0' encoding='utf-8'?>
<ns0:Relationships xmlns:ns0="http://schemas.openxmlformats.org/package/2006/relationships"><ns0:Relationship Type="http://schemas.openxmlformats.org/officeDocument/2006/relationships/theme" Target="theme/theme3.xml" Id="R15c8e251465f4eea" /><ns0:Relationship Type="http://schemas.openxmlformats.org/officeDocument/2006/relationships/slideLayout" Target="../slideLayouts/slideLayout7.xml" Id="R0144b9604f3d491c" /><ns0:Relationship Type="http://schemas.openxmlformats.org/officeDocument/2006/relationships/slideLayout" Target="../slideLayouts/slideLayout8.xml" Id="Rf56a2325fbea4354" /><ns0:Relationship Type="http://schemas.openxmlformats.org/officeDocument/2006/relationships/slideLayout" Target="../slideLayouts/slideLayout9.xml" Id="Rfc6289cc8f2b4e32" /><ns0:Relationship Type="http://schemas.openxmlformats.org/officeDocument/2006/relationships/slideLayout" Target="../slideLayouts/slideLayout10.xml" Id="R16af9ec19bcc48e7" /><ns0:Relationship Type="http://schemas.openxmlformats.org/officeDocument/2006/relationships/slideLayout" Target="../slideLayouts/slideLayout11.xml" Id="R55d69109ebd644f6" /><ns0:Relationship Type="http://schemas.openxmlformats.org/officeDocument/2006/relationships/slideLayout" Target="../slideLayouts/slideLayout12.xml" Id="R8d0d3435480e4ecf" /></ns0: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7081dddd53491b"/>
    <p:sldLayoutId xmlns:r="http://schemas.openxmlformats.org/officeDocument/2006/relationships" id="2147483650" r:id="Rd60590a2451a4806"/>
    <p:sldLayoutId xmlns:r="http://schemas.openxmlformats.org/officeDocument/2006/relationships" id="2147483651" r:id="R27e1fb4aba964319"/>
    <p:sldLayoutId xmlns:r="http://schemas.openxmlformats.org/officeDocument/2006/relationships" id="2147483652" r:id="Re83471a99c014011"/>
    <p:sldLayoutId xmlns:r="http://schemas.openxmlformats.org/officeDocument/2006/relationships" id="2147483653" r:id="R9a1fb3b1a19b4bf0"/>
    <p:sldLayoutId xmlns:r="http://schemas.openxmlformats.org/officeDocument/2006/relationships" id="2147483654" r:id="R2f8af99e9db541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0144b9604f3d491c"/>
    <p:sldLayoutId xmlns:r="http://schemas.openxmlformats.org/officeDocument/2006/relationships" id="2147483657" r:id="Rf56a2325fbea4354"/>
    <p:sldLayoutId xmlns:r="http://schemas.openxmlformats.org/officeDocument/2006/relationships" id="2147483658" r:id="Rfc6289cc8f2b4e32"/>
    <p:sldLayoutId xmlns:r="http://schemas.openxmlformats.org/officeDocument/2006/relationships" id="2147483659" r:id="R16af9ec19bcc48e7"/>
    <p:sldLayoutId xmlns:r="http://schemas.openxmlformats.org/officeDocument/2006/relationships" id="2147483660" r:id="R55d69109ebd644f6"/>
    <p:sldLayoutId xmlns:r="http://schemas.openxmlformats.org/officeDocument/2006/relationships" id="2147483661" r:id="R8d0d3435480e4e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WenQuanYi Zen Hei"/>
        <a:ea typeface=""/>
        <a:cs typeface=""/>
      </a:majorFont>
      <a:minorFont>
        <a:latin typeface="WenQuanYi Zen 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../slideLayouts/slideLayout6.xml" Id="R5637413d21a14aca" />  <Relationship Id="rId1" Type="http://schemas.openxmlformats.org/officeDocument/2006/relationships/notesSlide" Target="../notesSlides/notesSlide1.xml"/>
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../slideLayouts/slideLayout6.xml" Id="R566dfb6c82854bb7" />  <Relationship Id="rId1" Type="http://schemas.openxmlformats.org/officeDocument/2006/relationships/notesSlide" Target="../notesSlides/notesSlide2.xml"/>
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../slideLayouts/slideLayout6.xml" Id="R8ac77bbfc52f4820" />  <Relationship Id="rId1" Type="http://schemas.openxmlformats.org/officeDocument/2006/relationships/notesSlide" Target="../notesSlides/notesSlide3.xml"/>
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../slideLayouts/slideLayout6.xml" Id="R617dba03fbeb407c" />  <Relationship Id="rId1" Type="http://schemas.openxmlformats.org/officeDocument/2006/relationships/notesSlide" Target="../notesSlides/notesSlide4.xml"/>
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../slideLayouts/slideLayout6.xml" Id="R265a87b63709469c" /><Relationship Type="http://schemas.openxmlformats.org/officeDocument/2006/relationships/chart" Target="charts/chart1.xml" Id="R2114f01493474832" />  <Relationship Id="rId1" Type="http://schemas.openxmlformats.org/officeDocument/2006/relationships/notesSlide" Target="../notesSlides/notesSlide5.xml"/>
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../slideLayouts/slideLayout6.xml" Id="Rf095d388f39244af" /><Relationship Id="rId2" Type="http://schemas.openxmlformats.org/officeDocument/2006/relationships/image" Target="../media/image_564d7cc9c7582a74.jpg" />  <Relationship Id="rId3" Type="http://schemas.openxmlformats.org/officeDocument/2006/relationships/notesSlide" Target="../notesSlides/notesSlide6.xml" />
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../slideLayouts/slideLayout6.xml" Id="Rd4fcd1c18c544416" />  <Relationship Id="rId1" Type="http://schemas.openxmlformats.org/officeDocument/2006/relationships/notesSlide" Target="../notesSlides/notesSlide7.xml"/>
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配对复现率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2D3B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</c:v>
          </c:tx>
          <c:spPr>
            <a:solidFill xmlns:a="http://schemas.openxmlformats.org/drawingml/2006/main">
              <a:srgbClr val="527A99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冻结主要比较</c:v>
                </c:pt>
                <c:pt idx="1">
                  <c:v>补充试跑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0.8841</c:v>
                </c:pt>
                <c:pt idx="1">
                  <c:v>0.8333</c:v>
                </c:pt>
              </c:numCache>
            </c:numRef>
          </c:val>
        </c:ser>
        <c:ser>
          <c:idx val="1"/>
          <c:order val="1"/>
          <c:tx>
            <c:v>B</c:v>
          </c:tx>
          <c:spPr>
            <a:solidFill xmlns:a="http://schemas.openxmlformats.org/drawingml/2006/main">
              <a:srgbClr val="D6AE64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冻结主要比较</c:v>
                </c:pt>
                <c:pt idx="1">
                  <c:v>补充试跑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0.8986</c:v>
                </c:pt>
                <c:pt idx="1">
                  <c:v>0.9167</c:v>
                </c:pt>
              </c:numCache>
            </c:numRef>
          </c:val>
        </c:ser>
        <c:ser>
          <c:idx val="2"/>
          <c:order val="2"/>
          <c:tx>
            <c:v>C</c:v>
          </c:tx>
          <c:spPr>
            <a:solidFill xmlns:a="http://schemas.openxmlformats.org/drawingml/2006/main">
              <a:srgbClr val="16876E"/>
            </a:solidFill>
          </c:spPr>
          <c:invertIfNegative val="0"/>
          <c:cat>
            <c:strRef>
              <c:f>'Chart Data'!$E$2:$E$3</c:f>
              <c:strCache>
                <c:ptCount val="2"/>
                <c:pt idx="0">
                  <c:v>冻结主要比较</c:v>
                </c:pt>
                <c:pt idx="1">
                  <c:v>补充试跑</c:v>
                </c:pt>
              </c:strCache>
            </c:strRef>
          </c:cat>
          <c:val>
            <c:numRef>
              <c:f>'Chart Data'!$F$2:$F$3</c:f>
              <c:numCache>
                <c:formatCode>0.0%</c:formatCode>
                <c:ptCount val="2"/>
                <c:pt idx="0">
                  <c:v>0.971</c:v>
                </c:pt>
                <c:pt idx="1">
                  <c:v>0.9167</c:v>
                </c:pt>
              </c:numCache>
            </c:numRef>
          </c:val>
        </c:ser>
        <c:dLbls>
          <c:delete val="0"/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02D3B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E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EDE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7F6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3B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7F6F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AA47F-F28B-47E1-B9BB-5535743A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5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6A9F7-98CE-45EE-ACC8-DEC2142D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rPr>
              <a:t>大创中期汇报  ·  2026.10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BB9AF-131B-4445-8F32-0CB69C1E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rPr>
              <a:t>1 /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4FB39-9383-4D54-A252-9C99B395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基于程序分析的代码智能体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16F8E-366A-45C6-B1CF-85E7F6D9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安全性测试 Harness 构建方法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7E35E-8CF8-400B-B9E9-F01C0F17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6075"/>
            <a:ext cx="628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相同模型与调用预算下，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风险上下文能否帮助模型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生成更有效的安全测试？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B89CE-ECB3-4DF8-9BB3-4E190EDA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rPr>
              <a:t>路径穿越   /   命令注入   /   SQL 注入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0BD8D-3817-4F27-9A7D-2BDC1F79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3971925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49"/>
          </a:solidFill>
          <a:ln xmlns:a="http://schemas.openxmlformats.org/drawingml/2006/main" w="9525">
            <a:solidFill>
              <a:srgbClr val="42616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34AA2-3F68-404A-B84E-58B68E43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9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9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9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9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9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9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9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9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9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rPr>
              <a:t>同一安全性质测试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3E2B6-6BD6-47FE-8371-B2D8D878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290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8A4E0-E15D-492C-900C-B14F5653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142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缺陷版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94BAA-D2C1-4C56-979A-E253C5B7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67150"/>
            <a:ext cx="95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F3A69A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1">
                <a:solidFill>
                  <a:srgbClr val="F3A69A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1">
                <a:solidFill>
                  <a:srgbClr val="F3A69A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1">
                <a:solidFill>
                  <a:srgbClr val="F3A69A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1">
                <a:solidFill>
                  <a:srgbClr val="F3A69A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1">
                <a:solidFill>
                  <a:srgbClr val="F3A69A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1">
                <a:solidFill>
                  <a:srgbClr val="F3A69A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1">
                <a:solidFill>
                  <a:srgbClr val="F3A69A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1">
                <a:solidFill>
                  <a:srgbClr val="F3A69A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1">
                <a:solidFill>
                  <a:srgbClr val="F3A6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3A6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3A69A"/>
                </a:solidFill>
                <a:latin typeface="Noto Sans CJK SC"/>
                <a:ea typeface="Noto Sans CJK SC"/>
                <a:cs typeface="Noto Sans CJK SC"/>
              </a:rPr>
              <a:t>违规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441ED-51C2-484B-94EE-59DC2255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95800"/>
            <a:ext cx="142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修复版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866BC-AFE9-40A7-96B2-919297E2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76750"/>
            <a:ext cx="95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rPr>
              <a:t>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782CC-4D1C-4165-B84A-77804BB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5302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BDCFD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500" b="0">
                <a:solidFill>
                  <a:srgbClr val="BDCFD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500" b="0">
                <a:solidFill>
                  <a:srgbClr val="BDCFD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500" b="0">
                <a:solidFill>
                  <a:srgbClr val="BDCFD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500" b="0">
                <a:solidFill>
                  <a:srgbClr val="BDCFD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500" b="0">
                <a:solidFill>
                  <a:srgbClr val="BDCFD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500" b="0">
                <a:solidFill>
                  <a:srgbClr val="BDCFD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500" b="0">
                <a:solidFill>
                  <a:srgbClr val="BDCFD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500" b="0">
                <a:solidFill>
                  <a:srgbClr val="BDCFD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500" b="0">
                <a:solidFill>
                  <a:srgbClr val="BDCFD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DCFD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DCFD2"/>
                </a:solidFill>
                <a:latin typeface="Noto Sans CJK SC"/>
                <a:ea typeface="Noto Sans CJK SC"/>
                <a:cs typeface="Noto Sans CJK SC"/>
              </a:rPr>
              <a:t>保留输入、日志与哈希</a:t>
            </a:r>
          </a:p>
        </p:txBody>
      </p:sp>
    </p:spTree>
    <p:extLst>
      <p:ext uri="{BB962C8B-B14F-4D97-AF65-F5344CB8AC3E}">
        <p14:creationId xmlns:p14="http://schemas.microsoft.com/office/powerpoint/2010/main" val="268455718"/>
      </p:ext>
    </p:extLst>
  </p:cSld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6B403E7C-48AF-429E-B305-49F86595C462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9525"/>
          </a:xfrm>
          <a:prstGeom prst="rect">
            <a:avLst/>
          </a:prstGeom>
          <a:solidFill>
            <a:srgbClr val="D5DEDE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a16:creationId id="{A03F5062-49B0-47B8-B255-869D97E93EC6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大创中期汇报  ·  2026.10</a:t>
            </a:r>
          </a:p>
        </p:txBody>
      </p:sp>
      <p:sp>
        <p:nvSpPr>
          <p:cNvPr id="4" name="">
            <a:extLst>
              <a:ext uri="{FF2B5EF4-FFF2-40B4-BE49-F238E27FC236}">
                <a16:creationId id="{B74A1467-0797-4E1F-8EB9-0BD8033FA132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2 / 7</a:t>
            </a:r>
          </a:p>
        </p:txBody>
      </p:sp>
      <p:sp>
        <p:nvSpPr>
          <p:cNvPr id="5" name="shape-5"/>
          <p:cNvSpPr/>
          <p:nvPr/>
        </p:nvSpPr>
        <p:spPr>
          <a:xfrm>
            <a:off x="514350" y="438150"/>
            <a:ext cx="111633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220" b="1" dirty="0">
                <a:solidFill>
                  <a:srgbClr val="102D3B"/>
                </a:solidFill>
                <a:latin typeface="Microsoft YaHei"/>
                <a:ea typeface="Microsoft YaHei"/>
                <a:cs typeface="Microsoft YaHei"/>
              </a:rPr>
              <a:t>中期测试范围与判定依据</a:t>
            </a:r>
          </a:p>
        </p:txBody>
      </p:sp>
      <p:sp>
        <p:nvSpPr>
          <p:cNvPr id="6" name="">
            <a:extLst>
              <a:ext uri="{FF2B5EF4-FFF2-40B4-BE49-F238E27FC236}">
                <a16:creationId id="{815CDB07-7E71-441E-91E9-E160CB873469}"/>
              </a:ext>
            </a:extLst>
          </p:cNvPr>
          <p:cNvSpPr>
            <a:spLocks noGrp="1"/>
          </p:cNvSpPr>
          <p:nvPr/>
        </p:nvSpPr>
        <p:spPr>
          <a:xfrm>
            <a:off x="533400" y="1266825"/>
            <a:ext cx="11049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1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静态告警提供线索，动态执行确认实际违规</a:t>
            </a:r>
          </a:p>
        </p:txBody>
      </p:sp>
      <p:sp>
        <p:nvSpPr>
          <p:cNvPr id="7" name="">
            <a:extLst>
              <a:ext uri="{FF2B5EF4-FFF2-40B4-BE49-F238E27FC236}">
                <a16:creationId id="{CFF5C952-2856-4DF9-97BD-70BAA3B53D81}"/>
              </a:ext>
            </a:extLst>
          </p:cNvPr>
          <p:cNvSpPr>
            <a:spLocks noGrp="1"/>
          </p:cNvSpPr>
          <p:nvPr/>
        </p:nvSpPr>
        <p:spPr>
          <a:xfrm>
            <a:off x="619125" y="2047875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本阶段范围</a:t>
            </a:r>
          </a:p>
        </p:txBody>
      </p:sp>
      <p:sp>
        <p:nvSpPr>
          <p:cNvPr id="8" name="">
            <a:extLst>
              <a:ext uri="{FF2B5EF4-FFF2-40B4-BE49-F238E27FC236}">
                <a16:creationId id="{040819EB-2845-4F96-8D2B-070618206C37}"/>
              </a:ext>
            </a:extLst>
          </p:cNvPr>
          <p:cNvSpPr>
            <a:spLocks noGrp="1"/>
          </p:cNvSpPr>
          <p:nvPr/>
        </p:nvSpPr>
        <p:spPr>
          <a:xfrm>
            <a:off x="3619500" y="20478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需要验证的行为</a:t>
            </a:r>
          </a:p>
        </p:txBody>
      </p:sp>
      <p:sp>
        <p:nvSpPr>
          <p:cNvPr id="9" name="">
            <a:extLst>
              <a:ext uri="{FF2B5EF4-FFF2-40B4-BE49-F238E27FC236}">
                <a16:creationId id="{8F5AFEA0-F868-4D49-978E-42D5979E37FF}"/>
              </a:ext>
            </a:extLst>
          </p:cNvPr>
          <p:cNvSpPr>
            <a:spLocks noGrp="1"/>
          </p:cNvSpPr>
          <p:nvPr/>
        </p:nvSpPr>
        <p:spPr>
          <a:xfrm>
            <a:off x="8858250" y="2047875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有效证据</a:t>
            </a:r>
          </a:p>
        </p:txBody>
      </p:sp>
      <p:sp>
        <p:nvSpPr>
          <p:cNvPr id="10" name="">
            <a:extLst>
              <a:ext uri="{FF2B5EF4-FFF2-40B4-BE49-F238E27FC236}">
                <a16:creationId id="{61A53453-8E39-4EB5-85C3-9436E5D1EEB4}"/>
              </a:ext>
            </a:extLst>
          </p:cNvPr>
          <p:cNvSpPr>
            <a:spLocks noGrp="1"/>
          </p:cNvSpPr>
          <p:nvPr/>
        </p:nvSpPr>
        <p:spPr>
          <a:xfrm>
            <a:off x="523875" y="2457450"/>
            <a:ext cx="11144250" cy="9525"/>
          </a:xfrm>
          <a:prstGeom prst="rect">
            <a:avLst/>
          </a:prstGeom>
          <a:solidFill>
            <a:srgbClr val="D5DEDE"/>
          </a:solidFill>
          <a:ln w="0">
            <a:noFill/>
          </a:ln>
        </p:spPr>
      </p:sp>
      <p:sp>
        <p:nvSpPr>
          <p:cNvPr id="11" name="">
            <a:extLst>
              <a:ext uri="{FF2B5EF4-FFF2-40B4-BE49-F238E27FC236}">
                <a16:creationId id="{0603BD4A-A96A-4C56-9DC6-5D3935706C82}"/>
              </a:ext>
            </a:extLst>
          </p:cNvPr>
          <p:cNvSpPr>
            <a:spLocks noGrp="1"/>
          </p:cNvSpPr>
          <p:nvPr/>
        </p:nvSpPr>
        <p:spPr>
          <a:xfrm>
            <a:off x="619125" y="26098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路径穿越</a:t>
            </a:r>
          </a:p>
        </p:txBody>
      </p:sp>
      <p:sp>
        <p:nvSpPr>
          <p:cNvPr id="12" name="">
            <a:extLst>
              <a:ext uri="{FF2B5EF4-FFF2-40B4-BE49-F238E27FC236}">
                <a16:creationId id="{F2159985-B591-4751-8426-E313C1B62982}"/>
              </a:ext>
            </a:extLst>
          </p:cNvPr>
          <p:cNvSpPr>
            <a:spLocks noGrp="1"/>
          </p:cNvSpPr>
          <p:nvPr/>
        </p:nvSpPr>
        <p:spPr>
          <a:xfrm>
            <a:off x="3619500" y="2628900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文件访问越过指定目录</a:t>
            </a:r>
          </a:p>
        </p:txBody>
      </p:sp>
      <p:sp>
        <p:nvSpPr>
          <p:cNvPr id="13" name="">
            <a:extLst>
              <a:ext uri="{FF2B5EF4-FFF2-40B4-BE49-F238E27FC236}">
                <a16:creationId id="{4672903E-6BBD-44F1-9D39-C8F7FBBD18DB}"/>
              </a:ext>
            </a:extLst>
          </p:cNvPr>
          <p:cNvSpPr>
            <a:spLocks noGrp="1"/>
          </p:cNvSpPr>
          <p:nvPr/>
        </p:nvSpPr>
        <p:spPr>
          <a:xfrm>
            <a:off x="8858250" y="262890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rPr>
              <a:t>目录外随机哨兵</a:t>
            </a:r>
          </a:p>
        </p:txBody>
      </p:sp>
      <p:sp>
        <p:nvSpPr>
          <p:cNvPr id="14" name="">
            <a:extLst>
              <a:ext uri="{FF2B5EF4-FFF2-40B4-BE49-F238E27FC236}">
                <a16:creationId id="{C39CBB8C-167C-4B5D-99FE-69ECB8EBE000}"/>
              </a:ext>
            </a:extLst>
          </p:cNvPr>
          <p:cNvSpPr>
            <a:spLocks noGrp="1"/>
          </p:cNvSpPr>
          <p:nvPr/>
        </p:nvSpPr>
        <p:spPr>
          <a:xfrm>
            <a:off x="523875" y="3352800"/>
            <a:ext cx="11144250" cy="9525"/>
          </a:xfrm>
          <a:prstGeom prst="rect">
            <a:avLst/>
          </a:prstGeom>
          <a:solidFill>
            <a:srgbClr val="D5DEDE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a16:creationId id="{F4202906-1662-4847-9C13-17C7C0394C7B}"/>
              </a:ext>
            </a:extLst>
          </p:cNvPr>
          <p:cNvSpPr>
            <a:spLocks noGrp="1"/>
          </p:cNvSpPr>
          <p:nvPr/>
        </p:nvSpPr>
        <p:spPr>
          <a:xfrm>
            <a:off x="619125" y="35052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命令注入</a:t>
            </a:r>
          </a:p>
        </p:txBody>
      </p:sp>
      <p:sp>
        <p:nvSpPr>
          <p:cNvPr id="16" name="">
            <a:extLst>
              <a:ext uri="{FF2B5EF4-FFF2-40B4-BE49-F238E27FC236}">
                <a16:creationId id="{7589CA32-E8D3-44EF-B126-D7EF66585D08}"/>
              </a:ext>
            </a:extLst>
          </p:cNvPr>
          <p:cNvSpPr>
            <a:spLocks noGrp="1"/>
          </p:cNvSpPr>
          <p:nvPr/>
        </p:nvSpPr>
        <p:spPr>
          <a:xfrm>
            <a:off x="3619500" y="3524250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输入改变命令执行行为</a:t>
            </a:r>
          </a:p>
        </p:txBody>
      </p:sp>
      <p:sp>
        <p:nvSpPr>
          <p:cNvPr id="17" name="">
            <a:extLst>
              <a:ext uri="{FF2B5EF4-FFF2-40B4-BE49-F238E27FC236}">
                <a16:creationId id="{8AEACFA0-837D-4E75-852B-5499DC037AE7}"/>
              </a:ext>
            </a:extLst>
          </p:cNvPr>
          <p:cNvSpPr>
            <a:spLocks noGrp="1"/>
          </p:cNvSpPr>
          <p:nvPr/>
        </p:nvSpPr>
        <p:spPr>
          <a:xfrm>
            <a:off x="8858250" y="35242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rPr>
              <a:t>无害执行标记</a:t>
            </a:r>
          </a:p>
        </p:txBody>
      </p:sp>
      <p:sp>
        <p:nvSpPr>
          <p:cNvPr id="18" name="">
            <a:extLst>
              <a:ext uri="{FF2B5EF4-FFF2-40B4-BE49-F238E27FC236}">
                <a16:creationId id="{61394A1F-E6AE-417A-856A-034C398B8DA3}"/>
              </a:ext>
            </a:extLst>
          </p:cNvPr>
          <p:cNvSpPr>
            <a:spLocks noGrp="1"/>
          </p:cNvSpPr>
          <p:nvPr/>
        </p:nvSpPr>
        <p:spPr>
          <a:xfrm>
            <a:off x="523875" y="4248150"/>
            <a:ext cx="11144250" cy="9525"/>
          </a:xfrm>
          <a:prstGeom prst="rect">
            <a:avLst/>
          </a:prstGeom>
          <a:solidFill>
            <a:srgbClr val="D5DEDE"/>
          </a:solidFill>
          <a:ln w="0">
            <a:noFill/>
          </a:ln>
        </p:spPr>
      </p:sp>
      <p:sp>
        <p:nvSpPr>
          <p:cNvPr id="19" name="">
            <a:extLst>
              <a:ext uri="{FF2B5EF4-FFF2-40B4-BE49-F238E27FC236}">
                <a16:creationId id="{BDB13092-7D8E-4708-AF93-6D460F4EDD50}"/>
              </a:ext>
            </a:extLst>
          </p:cNvPr>
          <p:cNvSpPr>
            <a:spLocks noGrp="1"/>
          </p:cNvSpPr>
          <p:nvPr/>
        </p:nvSpPr>
        <p:spPr>
          <a:xfrm>
            <a:off x="619125" y="44005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SQL 注入</a:t>
            </a:r>
          </a:p>
        </p:txBody>
      </p:sp>
      <p:sp>
        <p:nvSpPr>
          <p:cNvPr id="20" name="">
            <a:extLst>
              <a:ext uri="{FF2B5EF4-FFF2-40B4-BE49-F238E27FC236}">
                <a16:creationId id="{4002F852-8713-4606-9999-7B6D3B724B4A}"/>
              </a:ext>
            </a:extLst>
          </p:cNvPr>
          <p:cNvSpPr>
            <a:spLocks noGrp="1"/>
          </p:cNvSpPr>
          <p:nvPr/>
        </p:nvSpPr>
        <p:spPr>
          <a:xfrm>
            <a:off x="3619500" y="4419600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输入改变查询的授权范围</a:t>
            </a:r>
          </a:p>
        </p:txBody>
      </p:sp>
      <p:sp>
        <p:nvSpPr>
          <p:cNvPr id="21" name="">
            <a:extLst>
              <a:ext uri="{FF2B5EF4-FFF2-40B4-BE49-F238E27FC236}">
                <a16:creationId id="{B4288DB3-29F7-43C7-800C-27F467269C42}"/>
              </a:ext>
            </a:extLst>
          </p:cNvPr>
          <p:cNvSpPr>
            <a:spLocks noGrp="1"/>
          </p:cNvSpPr>
          <p:nvPr/>
        </p:nvSpPr>
        <p:spPr>
          <a:xfrm>
            <a:off x="8858250" y="441960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rPr>
              <a:t>越权 PRIVATE 行</a:t>
            </a:r>
          </a:p>
        </p:txBody>
      </p:sp>
      <p:sp>
        <p:nvSpPr>
          <p:cNvPr id="22" name="">
            <a:extLst>
              <a:ext uri="{FF2B5EF4-FFF2-40B4-BE49-F238E27FC236}">
                <a16:creationId id="{28E8E98C-1EAD-4AAF-AC5B-88C2EBB5C5CC}"/>
              </a:ext>
            </a:extLst>
          </p:cNvPr>
          <p:cNvSpPr>
            <a:spLocks noGrp="1"/>
          </p:cNvSpPr>
          <p:nvPr/>
        </p:nvSpPr>
        <p:spPr>
          <a:xfrm>
            <a:off x="514350" y="5410200"/>
            <a:ext cx="11163300" cy="638175"/>
          </a:xfrm>
          <a:prstGeom prst="rect">
            <a:avLst/>
          </a:prstGeom>
          <a:solidFill>
            <a:srgbClr val="E6ECE8"/>
          </a:solidFill>
          <a:ln w="0">
            <a:noFill/>
          </a:ln>
        </p:spPr>
      </p:sp>
      <p:sp>
        <p:nvSpPr>
          <p:cNvPr id="23" name="">
            <a:extLst>
              <a:ext uri="{FF2B5EF4-FFF2-40B4-BE49-F238E27FC236}">
                <a16:creationId id="{D3EAB557-95F8-42F4-85D0-77AAA4E216B2}"/>
              </a:ext>
            </a:extLst>
          </p:cNvPr>
          <p:cNvSpPr>
            <a:spLocks noGrp="1"/>
          </p:cNvSpPr>
          <p:nvPr/>
        </p:nvSpPr>
        <p:spPr>
          <a:xfrm>
            <a:off x="742950" y="55721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延期内容：符号执行、自动修复、跨语言与完整项目分析</a:t>
            </a:r>
          </a:p>
        </p:txBody>
      </p:sp>
    </p:spTree>
    <p:extLst>
      <p:ext uri="{BB962C8B-B14F-4D97-AF65-F5344CB8AC3E}">
        <p14:creationId val="345523093"/>
      </p:ext>
    </p:extLst>
  </p:cSld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102D3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3C795F8D-0C06-4DE7-AA36-147FD94AB6B3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9525"/>
          </a:xfrm>
          <a:prstGeom prst="rect">
            <a:avLst/>
          </a:prstGeom>
          <a:solidFill>
            <a:srgbClr val="35525E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a16:creationId id="{464A7271-B3B9-497B-9C26-9DE99FB0307B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rPr>
              <a:t>大创中期汇报  ·  2026.10</a:t>
            </a:r>
          </a:p>
        </p:txBody>
      </p:sp>
      <p:sp>
        <p:nvSpPr>
          <p:cNvPr id="4" name="">
            <a:extLst>
              <a:ext uri="{FF2B5EF4-FFF2-40B4-BE49-F238E27FC236}">
                <a16:creationId id="{F7186092-A546-4C63-A891-E224FEF78990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8CFD2"/>
                </a:solidFill>
                <a:latin typeface="Noto Sans CJK SC"/>
                <a:ea typeface="Noto Sans CJK SC"/>
                <a:cs typeface="Noto Sans CJK SC"/>
              </a:rPr>
              <a:t>3 / 7</a:t>
            </a:r>
          </a:p>
        </p:txBody>
      </p:sp>
      <p:sp>
        <p:nvSpPr>
          <p:cNvPr id="5" name="">
            <a:extLst>
              <a:ext uri="{FF2B5EF4-FFF2-40B4-BE49-F238E27FC236}">
                <a16:creationId id="{75AA3EB1-6006-457A-91C2-457D71C7BA71}"/>
              </a:ext>
            </a:extLst>
          </p:cNvPr>
          <p:cNvSpPr>
            <a:spLocks noGrp="1"/>
          </p:cNvSpPr>
          <p:nvPr/>
        </p:nvSpPr>
        <p:spPr>
          <a:xfrm>
            <a:off x="514350" y="438150"/>
            <a:ext cx="111633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程序如何完成一次安全测试</a:t>
            </a:r>
          </a:p>
        </p:txBody>
      </p:sp>
      <p:sp>
        <p:nvSpPr>
          <p:cNvPr id="6" name="shape-6"/>
          <p:cNvSpPr/>
          <p:nvPr/>
        </p:nvSpPr>
        <p:spPr>
          <a:xfrm>
            <a:off x="533400" y="123825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180" dirty="0">
                <a:solidFill>
                  <a:srgbClr val="BDD0D3"/>
                </a:solidFill>
                <a:latin typeface="Microsoft YaHei"/>
                <a:ea typeface="Microsoft YaHei"/>
                <a:cs typeface="Microsoft YaHei"/>
              </a:rPr>
              <a:t>根据风险上下文生成测试，用执行反馈修订输入</a:t>
            </a:r>
          </a:p>
        </p:txBody>
      </p:sp>
      <p:sp>
        <p:nvSpPr>
          <p:cNvPr id="7" name="">
            <a:extLst>
              <a:ext uri="{FF2B5EF4-FFF2-40B4-BE49-F238E27FC236}">
                <a16:creationId id="{744711D1-A6A9-4BBD-B9FD-227B0A5C8A26}"/>
              </a:ext>
            </a:extLst>
          </p:cNvPr>
          <p:cNvSpPr>
            <a:spLocks noGrp="1"/>
          </p:cNvSpPr>
          <p:nvPr/>
        </p:nvSpPr>
        <p:spPr>
          <a:xfrm>
            <a:off x="514350" y="2343150"/>
            <a:ext cx="2038350" cy="1771650"/>
          </a:xfrm>
          <a:prstGeom prst="rect">
            <a:avLst/>
          </a:prstGeom>
          <a:solidFill>
            <a:srgbClr val="1D4050"/>
          </a:solidFill>
          <a:ln w="9525">
            <a:solidFill>
              <a:srgbClr val="51717E"/>
            </a:solidFill>
          </a:ln>
        </p:spPr>
      </p:sp>
      <p:sp>
        <p:nvSpPr>
          <p:cNvPr id="8" name="">
            <a:extLst>
              <a:ext uri="{FF2B5EF4-FFF2-40B4-BE49-F238E27FC236}">
                <a16:creationId id="{C6253C06-7C88-470C-875B-0906E10F9A20}"/>
              </a:ext>
            </a:extLst>
          </p:cNvPr>
          <p:cNvSpPr>
            <a:spLocks noGrp="1"/>
          </p:cNvSpPr>
          <p:nvPr/>
        </p:nvSpPr>
        <p:spPr>
          <a:xfrm>
            <a:off x="657225" y="2543175"/>
            <a:ext cx="1790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Python 代码</a:t>
            </a:r>
          </a:p>
        </p:txBody>
      </p:sp>
      <p:sp>
        <p:nvSpPr>
          <p:cNvPr id="9" name="">
            <a:extLst>
              <a:ext uri="{FF2B5EF4-FFF2-40B4-BE49-F238E27FC236}">
                <a16:creationId id="{9379915E-B029-44B3-B178-522E89A5FB28}"/>
              </a:ext>
            </a:extLst>
          </p:cNvPr>
          <p:cNvSpPr>
            <a:spLocks noGrp="1"/>
          </p:cNvSpPr>
          <p:nvPr/>
        </p:nvSpPr>
        <p:spPr>
          <a:xfrm>
            <a:off x="657225" y="3190875"/>
            <a:ext cx="1790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rPr>
              <a:t>源码与需求</a:t>
            </a:r>
          </a:p>
        </p:txBody>
      </p:sp>
      <p:sp>
        <p:nvSpPr>
          <p:cNvPr id="10" name="">
            <a:extLst>
              <a:ext uri="{FF2B5EF4-FFF2-40B4-BE49-F238E27FC236}">
                <a16:creationId id="{2B60B368-6FA5-4CC2-849D-E6B5B51CA611}"/>
              </a:ext>
            </a:extLst>
          </p:cNvPr>
          <p:cNvSpPr>
            <a:spLocks noGrp="1"/>
          </p:cNvSpPr>
          <p:nvPr/>
        </p:nvSpPr>
        <p:spPr>
          <a:xfrm>
            <a:off x="657225" y="3571875"/>
            <a:ext cx="1790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rPr>
              <a:t>统一测试规范</a:t>
            </a:r>
          </a:p>
        </p:txBody>
      </p:sp>
      <p:sp>
        <p:nvSpPr>
          <p:cNvPr id="11" name="">
            <a:extLst>
              <a:ext uri="{FF2B5EF4-FFF2-40B4-BE49-F238E27FC236}">
                <a16:creationId id="{ADF7DC3A-F6C1-4525-A583-2774121EDFC4}"/>
              </a:ext>
            </a:extLst>
          </p:cNvPr>
          <p:cNvSpPr>
            <a:spLocks noGrp="1"/>
          </p:cNvSpPr>
          <p:nvPr/>
        </p:nvSpPr>
        <p:spPr>
          <a:xfrm>
            <a:off x="2600325" y="3105150"/>
            <a:ext cx="152400" cy="190500"/>
          </a:xfrm>
          <a:prstGeom prst="rightArrow">
            <a:avLst/>
          </a:prstGeom>
          <a:solidFill>
            <a:srgbClr val="8ADBC7"/>
          </a:solidFill>
          <a:ln w="0">
            <a:noFill/>
          </a:ln>
        </p:spPr>
      </p:sp>
      <p:sp>
        <p:nvSpPr>
          <p:cNvPr id="12" name="">
            <a:extLst>
              <a:ext uri="{FF2B5EF4-FFF2-40B4-BE49-F238E27FC236}">
                <a16:creationId id="{3762185D-5293-4E58-AF86-673E57E68590}"/>
              </a:ext>
            </a:extLst>
          </p:cNvPr>
          <p:cNvSpPr>
            <a:spLocks noGrp="1"/>
          </p:cNvSpPr>
          <p:nvPr/>
        </p:nvSpPr>
        <p:spPr>
          <a:xfrm>
            <a:off x="2790825" y="2343150"/>
            <a:ext cx="2038350" cy="1771650"/>
          </a:xfrm>
          <a:prstGeom prst="rect">
            <a:avLst/>
          </a:prstGeom>
          <a:solidFill>
            <a:srgbClr val="1D4050"/>
          </a:solidFill>
          <a:ln w="9525">
            <a:solidFill>
              <a:srgbClr val="51717E"/>
            </a:solidFill>
          </a:ln>
        </p:spPr>
      </p:sp>
      <p:sp>
        <p:nvSpPr>
          <p:cNvPr id="13" name="">
            <a:extLst>
              <a:ext uri="{FF2B5EF4-FFF2-40B4-BE49-F238E27FC236}">
                <a16:creationId id="{52D9C0EE-0945-4F1E-985B-F500537DB368}"/>
              </a:ext>
            </a:extLst>
          </p:cNvPr>
          <p:cNvSpPr>
            <a:spLocks noGrp="1"/>
          </p:cNvSpPr>
          <p:nvPr/>
        </p:nvSpPr>
        <p:spPr>
          <a:xfrm>
            <a:off x="2933700" y="2543175"/>
            <a:ext cx="1790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风险上下文</a:t>
            </a:r>
          </a:p>
        </p:txBody>
      </p:sp>
      <p:sp>
        <p:nvSpPr>
          <p:cNvPr id="14" name="">
            <a:extLst>
              <a:ext uri="{FF2B5EF4-FFF2-40B4-BE49-F238E27FC236}">
                <a16:creationId id="{DF5A3966-2777-4D31-89E3-324790DA1C51}"/>
              </a:ext>
            </a:extLst>
          </p:cNvPr>
          <p:cNvSpPr>
            <a:spLocks noGrp="1"/>
          </p:cNvSpPr>
          <p:nvPr/>
        </p:nvSpPr>
        <p:spPr>
          <a:xfrm>
            <a:off x="2933700" y="3190875"/>
            <a:ext cx="1790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rPr>
              <a:t>Bandit 告警</a:t>
            </a:r>
          </a:p>
        </p:txBody>
      </p:sp>
      <p:sp>
        <p:nvSpPr>
          <p:cNvPr id="15" name="">
            <a:extLst>
              <a:ext uri="{FF2B5EF4-FFF2-40B4-BE49-F238E27FC236}">
                <a16:creationId id="{808784B7-E22A-493E-8AAF-3540A3CA5BCA}"/>
              </a:ext>
            </a:extLst>
          </p:cNvPr>
          <p:cNvSpPr>
            <a:spLocks noGrp="1"/>
          </p:cNvSpPr>
          <p:nvPr/>
        </p:nvSpPr>
        <p:spPr>
          <a:xfrm>
            <a:off x="2933700" y="3571875"/>
            <a:ext cx="1790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rPr>
              <a:t>AST 函数与导入</a:t>
            </a:r>
          </a:p>
        </p:txBody>
      </p:sp>
      <p:sp>
        <p:nvSpPr>
          <p:cNvPr id="16" name="">
            <a:extLst>
              <a:ext uri="{FF2B5EF4-FFF2-40B4-BE49-F238E27FC236}">
                <a16:creationId id="{BE562A0C-1186-4E5E-9791-F7F9BD96930A}"/>
              </a:ext>
            </a:extLst>
          </p:cNvPr>
          <p:cNvSpPr>
            <a:spLocks noGrp="1"/>
          </p:cNvSpPr>
          <p:nvPr/>
        </p:nvSpPr>
        <p:spPr>
          <a:xfrm>
            <a:off x="4876800" y="3105150"/>
            <a:ext cx="152400" cy="190500"/>
          </a:xfrm>
          <a:prstGeom prst="rightArrow">
            <a:avLst/>
          </a:prstGeom>
          <a:solidFill>
            <a:srgbClr val="8ADBC7"/>
          </a:solidFill>
          <a:ln w="0">
            <a:noFill/>
          </a:ln>
        </p:spPr>
      </p:sp>
      <p:sp>
        <p:nvSpPr>
          <p:cNvPr id="17" name="">
            <a:extLst>
              <a:ext uri="{FF2B5EF4-FFF2-40B4-BE49-F238E27FC236}">
                <a16:creationId id="{66ACE3B1-DE61-49E7-897D-8C6333B2B7DB}"/>
              </a:ext>
            </a:extLst>
          </p:cNvPr>
          <p:cNvSpPr>
            <a:spLocks noGrp="1"/>
          </p:cNvSpPr>
          <p:nvPr/>
        </p:nvSpPr>
        <p:spPr>
          <a:xfrm>
            <a:off x="5067300" y="2343150"/>
            <a:ext cx="2038350" cy="1771650"/>
          </a:xfrm>
          <a:prstGeom prst="rect">
            <a:avLst/>
          </a:prstGeom>
          <a:solidFill>
            <a:srgbClr val="1D4050"/>
          </a:solidFill>
          <a:ln w="9525">
            <a:solidFill>
              <a:srgbClr val="51717E"/>
            </a:solidFill>
          </a:ln>
        </p:spPr>
      </p:sp>
      <p:sp>
        <p:nvSpPr>
          <p:cNvPr id="18" name="">
            <a:extLst>
              <a:ext uri="{FF2B5EF4-FFF2-40B4-BE49-F238E27FC236}">
                <a16:creationId id="{AE60E204-F48C-4831-B90A-A1ABC84963F0}"/>
              </a:ext>
            </a:extLst>
          </p:cNvPr>
          <p:cNvSpPr>
            <a:spLocks noGrp="1"/>
          </p:cNvSpPr>
          <p:nvPr/>
        </p:nvSpPr>
        <p:spPr>
          <a:xfrm>
            <a:off x="5210175" y="2543175"/>
            <a:ext cx="1790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生成测试</a:t>
            </a:r>
          </a:p>
        </p:txBody>
      </p:sp>
      <p:sp>
        <p:nvSpPr>
          <p:cNvPr id="19" name="">
            <a:extLst>
              <a:ext uri="{FF2B5EF4-FFF2-40B4-BE49-F238E27FC236}">
                <a16:creationId id="{DC3587FA-9A76-4E88-81FB-AD7B5BB59131}"/>
              </a:ext>
            </a:extLst>
          </p:cNvPr>
          <p:cNvSpPr>
            <a:spLocks noGrp="1"/>
          </p:cNvSpPr>
          <p:nvPr/>
        </p:nvSpPr>
        <p:spPr>
          <a:xfrm>
            <a:off x="5210175" y="3190875"/>
            <a:ext cx="1790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rPr>
              <a:t>受限 pytest</a:t>
            </a:r>
          </a:p>
        </p:txBody>
      </p:sp>
      <p:sp>
        <p:nvSpPr>
          <p:cNvPr id="20" name="">
            <a:extLst>
              <a:ext uri="{FF2B5EF4-FFF2-40B4-BE49-F238E27FC236}">
                <a16:creationId id="{18E7EB9C-1B4E-4EF9-92E0-04E35643065E}"/>
              </a:ext>
            </a:extLst>
          </p:cNvPr>
          <p:cNvSpPr>
            <a:spLocks noGrp="1"/>
          </p:cNvSpPr>
          <p:nvPr/>
        </p:nvSpPr>
        <p:spPr>
          <a:xfrm>
            <a:off x="5210175" y="3571875"/>
            <a:ext cx="1790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rPr>
              <a:t>Hypothesis 输入</a:t>
            </a:r>
          </a:p>
        </p:txBody>
      </p:sp>
      <p:sp>
        <p:nvSpPr>
          <p:cNvPr id="21" name="">
            <a:extLst>
              <a:ext uri="{FF2B5EF4-FFF2-40B4-BE49-F238E27FC236}">
                <a16:creationId id="{1AAEFEF0-060C-4825-84ED-77DD8C269A64}"/>
              </a:ext>
            </a:extLst>
          </p:cNvPr>
          <p:cNvSpPr>
            <a:spLocks noGrp="1"/>
          </p:cNvSpPr>
          <p:nvPr/>
        </p:nvSpPr>
        <p:spPr>
          <a:xfrm>
            <a:off x="7153275" y="3105150"/>
            <a:ext cx="152400" cy="190500"/>
          </a:xfrm>
          <a:prstGeom prst="rightArrow">
            <a:avLst/>
          </a:prstGeom>
          <a:solidFill>
            <a:srgbClr val="8ADBC7"/>
          </a:solidFill>
          <a:ln w="0">
            <a:noFill/>
          </a:ln>
        </p:spPr>
      </p:sp>
      <p:sp>
        <p:nvSpPr>
          <p:cNvPr id="22" name="">
            <a:extLst>
              <a:ext uri="{FF2B5EF4-FFF2-40B4-BE49-F238E27FC236}">
                <a16:creationId id="{11F9D67C-5B40-49DD-8342-B7CA43E56312}"/>
              </a:ext>
            </a:extLst>
          </p:cNvPr>
          <p:cNvSpPr>
            <a:spLocks noGrp="1"/>
          </p:cNvSpPr>
          <p:nvPr/>
        </p:nvSpPr>
        <p:spPr>
          <a:xfrm>
            <a:off x="7343775" y="2343150"/>
            <a:ext cx="2038350" cy="1771650"/>
          </a:xfrm>
          <a:prstGeom prst="rect">
            <a:avLst/>
          </a:prstGeom>
          <a:solidFill>
            <a:srgbClr val="255A59"/>
          </a:solidFill>
          <a:ln w="9525">
            <a:solidFill>
              <a:srgbClr val="8ADBC7"/>
            </a:solidFill>
          </a:ln>
        </p:spPr>
      </p:sp>
      <p:sp>
        <p:nvSpPr>
          <p:cNvPr id="23" name="">
            <a:extLst>
              <a:ext uri="{FF2B5EF4-FFF2-40B4-BE49-F238E27FC236}">
                <a16:creationId id="{CB11F97A-BA01-4566-86F0-2662164E6F25}"/>
              </a:ext>
            </a:extLst>
          </p:cNvPr>
          <p:cNvSpPr>
            <a:spLocks noGrp="1"/>
          </p:cNvSpPr>
          <p:nvPr/>
        </p:nvSpPr>
        <p:spPr>
          <a:xfrm>
            <a:off x="7486650" y="2543175"/>
            <a:ext cx="1790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隔离执行</a:t>
            </a:r>
          </a:p>
        </p:txBody>
      </p:sp>
      <p:sp>
        <p:nvSpPr>
          <p:cNvPr id="24" name="">
            <a:extLst>
              <a:ext uri="{FF2B5EF4-FFF2-40B4-BE49-F238E27FC236}">
                <a16:creationId id="{53B9F5BA-1AB6-4192-94EF-5D065A9A411D}"/>
              </a:ext>
            </a:extLst>
          </p:cNvPr>
          <p:cNvSpPr>
            <a:spLocks noGrp="1"/>
          </p:cNvSpPr>
          <p:nvPr/>
        </p:nvSpPr>
        <p:spPr>
          <a:xfrm>
            <a:off x="7486650" y="3190875"/>
            <a:ext cx="1790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rPr>
              <a:t>无网络容器</a:t>
            </a:r>
          </a:p>
        </p:txBody>
      </p:sp>
      <p:sp>
        <p:nvSpPr>
          <p:cNvPr id="25" name="">
            <a:extLst>
              <a:ext uri="{FF2B5EF4-FFF2-40B4-BE49-F238E27FC236}">
                <a16:creationId id="{DF3C97C2-2351-4B4A-AB4D-D7580882F481}"/>
              </a:ext>
            </a:extLst>
          </p:cNvPr>
          <p:cNvSpPr>
            <a:spLocks noGrp="1"/>
          </p:cNvSpPr>
          <p:nvPr/>
        </p:nvSpPr>
        <p:spPr>
          <a:xfrm>
            <a:off x="7486650" y="3571875"/>
            <a:ext cx="1790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rPr>
              <a:t>probe 安全判据</a:t>
            </a:r>
          </a:p>
        </p:txBody>
      </p:sp>
      <p:sp>
        <p:nvSpPr>
          <p:cNvPr id="26" name="">
            <a:extLst>
              <a:ext uri="{FF2B5EF4-FFF2-40B4-BE49-F238E27FC236}">
                <a16:creationId id="{BE64905A-5268-4760-A9CB-84BA007BC3C0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152400" cy="190500"/>
          </a:xfrm>
          <a:prstGeom prst="rightArrow">
            <a:avLst/>
          </a:prstGeom>
          <a:solidFill>
            <a:srgbClr val="8ADBC7"/>
          </a:solidFill>
          <a:ln w="0">
            <a:noFill/>
          </a:ln>
        </p:spPr>
      </p:sp>
      <p:sp>
        <p:nvSpPr>
          <p:cNvPr id="27" name="">
            <a:extLst>
              <a:ext uri="{FF2B5EF4-FFF2-40B4-BE49-F238E27FC236}">
                <a16:creationId id="{9F0D031B-3071-468B-A835-79A3EB9E0E4D}"/>
              </a:ext>
            </a:extLst>
          </p:cNvPr>
          <p:cNvSpPr>
            <a:spLocks noGrp="1"/>
          </p:cNvSpPr>
          <p:nvPr/>
        </p:nvSpPr>
        <p:spPr>
          <a:xfrm>
            <a:off x="9620250" y="2343150"/>
            <a:ext cx="2038350" cy="1771650"/>
          </a:xfrm>
          <a:prstGeom prst="rect">
            <a:avLst/>
          </a:prstGeom>
          <a:solidFill>
            <a:srgbClr val="1D4050"/>
          </a:solidFill>
          <a:ln w="9525">
            <a:solidFill>
              <a:srgbClr val="51717E"/>
            </a:solidFill>
          </a:ln>
        </p:spPr>
      </p:sp>
      <p:sp>
        <p:nvSpPr>
          <p:cNvPr id="28" name="">
            <a:extLst>
              <a:ext uri="{FF2B5EF4-FFF2-40B4-BE49-F238E27FC236}">
                <a16:creationId id="{216D3566-9396-48B3-8F22-DE67783D2BC0}"/>
              </a:ext>
            </a:extLst>
          </p:cNvPr>
          <p:cNvSpPr>
            <a:spLocks noGrp="1"/>
          </p:cNvSpPr>
          <p:nvPr/>
        </p:nvSpPr>
        <p:spPr>
          <a:xfrm>
            <a:off x="9763125" y="2543175"/>
            <a:ext cx="1790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证据汇总</a:t>
            </a:r>
          </a:p>
        </p:txBody>
      </p:sp>
      <p:sp>
        <p:nvSpPr>
          <p:cNvPr id="29" name="">
            <a:extLst>
              <a:ext uri="{FF2B5EF4-FFF2-40B4-BE49-F238E27FC236}">
                <a16:creationId id="{B014DDE6-D93A-4417-AF0A-01CB15341F11}"/>
              </a:ext>
            </a:extLst>
          </p:cNvPr>
          <p:cNvSpPr>
            <a:spLocks noGrp="1"/>
          </p:cNvSpPr>
          <p:nvPr/>
        </p:nvSpPr>
        <p:spPr>
          <a:xfrm>
            <a:off x="9763125" y="3190875"/>
            <a:ext cx="1790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ADBDD"/>
                </a:solidFill>
                <a:latin typeface="Noto Sans CJK SC"/>
                <a:ea typeface="Noto Sans CJK SC"/>
                <a:cs typeface="Noto Sans CJK SC"/>
              </a:rPr>
              <a:t>缺陷／修复配对</a:t>
            </a:r>
          </a:p>
        </p:txBody>
      </p:sp>
      <p:sp>
        <p:nvSpPr>
          <p:cNvPr id="30" name="shape-30"/>
          <p:cNvSpPr/>
          <p:nvPr/>
        </p:nvSpPr>
        <p:spPr>
          <a:xfrm>
            <a:off x="9763125" y="3571875"/>
            <a:ext cx="17907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CADBDD"/>
                </a:solidFill>
                <a:latin typeface="Microsoft YaHei"/>
                <a:ea typeface="Microsoft YaHei"/>
                <a:cs typeface="Microsoft YaHei"/>
              </a:rPr>
              <a:t>日志与哈希</a:t>
            </a:r>
          </a:p>
        </p:txBody>
      </p:sp>
      <p:sp>
        <p:nvSpPr>
          <p:cNvPr id="31" name="">
            <a:extLst>
              <a:ext uri="{FF2B5EF4-FFF2-40B4-BE49-F238E27FC236}">
                <a16:creationId id="{576F2E56-B124-428F-84E3-FEED59B99625}"/>
              </a:ext>
            </a:extLst>
          </p:cNvPr>
          <p:cNvSpPr>
            <a:spLocks noGrp="1"/>
          </p:cNvSpPr>
          <p:nvPr/>
        </p:nvSpPr>
        <p:spPr>
          <a:xfrm>
            <a:off x="6086475" y="4162425"/>
            <a:ext cx="9525" cy="400050"/>
          </a:xfrm>
          <a:prstGeom prst="rect">
            <a:avLst/>
          </a:prstGeom>
          <a:solidFill>
            <a:srgbClr val="8ADBC7"/>
          </a:solidFill>
          <a:ln w="0">
            <a:noFill/>
          </a:ln>
        </p:spPr>
      </p:sp>
      <p:sp>
        <p:nvSpPr>
          <p:cNvPr id="32" name="">
            <a:extLst>
              <a:ext uri="{FF2B5EF4-FFF2-40B4-BE49-F238E27FC236}">
                <a16:creationId id="{73E7C47D-92A7-4BD1-BAE9-074D9CBC318E}"/>
              </a:ext>
            </a:extLst>
          </p:cNvPr>
          <p:cNvSpPr>
            <a:spLocks noGrp="1"/>
          </p:cNvSpPr>
          <p:nvPr/>
        </p:nvSpPr>
        <p:spPr>
          <a:xfrm>
            <a:off x="6086475" y="4552950"/>
            <a:ext cx="2286000" cy="19050"/>
          </a:xfrm>
          <a:prstGeom prst="rect">
            <a:avLst/>
          </a:prstGeom>
          <a:solidFill>
            <a:srgbClr val="8ADBC7"/>
          </a:solidFill>
          <a:ln w="0">
            <a:noFill/>
          </a:ln>
        </p:spPr>
      </p:sp>
      <p:sp>
        <p:nvSpPr>
          <p:cNvPr id="33" name="">
            <a:extLst>
              <a:ext uri="{FF2B5EF4-FFF2-40B4-BE49-F238E27FC236}">
                <a16:creationId id="{0D4A067D-1CA9-4D7C-BE57-0E6E15AC0D68}"/>
              </a:ext>
            </a:extLst>
          </p:cNvPr>
          <p:cNvSpPr>
            <a:spLocks noGrp="1"/>
          </p:cNvSpPr>
          <p:nvPr/>
        </p:nvSpPr>
        <p:spPr>
          <a:xfrm>
            <a:off x="8362950" y="4152900"/>
            <a:ext cx="19050" cy="419100"/>
          </a:xfrm>
          <a:prstGeom prst="rect">
            <a:avLst/>
          </a:prstGeom>
          <a:solidFill>
            <a:srgbClr val="8ADBC7"/>
          </a:solidFill>
          <a:ln w="0">
            <a:noFill/>
          </a:ln>
        </p:spPr>
      </p:sp>
      <p:sp>
        <p:nvSpPr>
          <p:cNvPr id="34" name="">
            <a:extLst>
              <a:ext uri="{FF2B5EF4-FFF2-40B4-BE49-F238E27FC236}">
                <a16:creationId id="{C80FD590-56B8-4919-94E0-1949F5F2CA33}"/>
              </a:ext>
            </a:extLst>
          </p:cNvPr>
          <p:cNvSpPr>
            <a:spLocks noGrp="1"/>
          </p:cNvSpPr>
          <p:nvPr/>
        </p:nvSpPr>
        <p:spPr>
          <a:xfrm>
            <a:off x="5991225" y="4124325"/>
            <a:ext cx="190500" cy="190500"/>
          </a:xfrm>
          <a:prstGeom prst="upArrow">
            <a:avLst/>
          </a:prstGeom>
          <a:solidFill>
            <a:srgbClr val="8ADBC7"/>
          </a:solidFill>
          <a:ln w="0">
            <a:noFill/>
          </a:ln>
        </p:spPr>
      </p:sp>
      <p:sp>
        <p:nvSpPr>
          <p:cNvPr id="35" name="">
            <a:extLst>
              <a:ext uri="{FF2B5EF4-FFF2-40B4-BE49-F238E27FC236}">
                <a16:creationId id="{FA514757-A99E-46CC-A675-D4DAF989028E}"/>
              </a:ext>
            </a:extLst>
          </p:cNvPr>
          <p:cNvSpPr>
            <a:spLocks noGrp="1"/>
          </p:cNvSpPr>
          <p:nvPr/>
        </p:nvSpPr>
        <p:spPr>
          <a:xfrm>
            <a:off x="5105400" y="4686300"/>
            <a:ext cx="62769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72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rPr>
              <a:t>缺陷版反馈 → 最多修订两次，仅修改测试</a:t>
            </a:r>
          </a:p>
        </p:txBody>
      </p:sp>
      <p:sp>
        <p:nvSpPr>
          <p:cNvPr id="36" name="">
            <a:extLst>
              <a:ext uri="{FF2B5EF4-FFF2-40B4-BE49-F238E27FC236}">
                <a16:creationId id="{312C9454-08B8-494E-B737-84395F450E0F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8382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B6C9C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1">
                <a:solidFill>
                  <a:srgbClr val="B6C9C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1">
                <a:solidFill>
                  <a:srgbClr val="B6C9C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1">
                <a:solidFill>
                  <a:srgbClr val="B6C9C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1">
                <a:solidFill>
                  <a:srgbClr val="B6C9C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1">
                <a:solidFill>
                  <a:srgbClr val="B6C9C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1">
                <a:solidFill>
                  <a:srgbClr val="B6C9C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1">
                <a:solidFill>
                  <a:srgbClr val="B6C9C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1">
                <a:solidFill>
                  <a:srgbClr val="B6C9C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1">
                <a:solidFill>
                  <a:srgbClr val="B6C9C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00" b="1">
                <a:solidFill>
                  <a:srgbClr val="B6C9C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6C9CF"/>
                </a:solidFill>
                <a:latin typeface="Noto Sans CJK SC"/>
                <a:ea typeface="Noto Sans CJK SC"/>
                <a:cs typeface="Noto Sans CJK SC"/>
              </a:rPr>
              <a:t>复用</a:t>
            </a:r>
          </a:p>
        </p:txBody>
      </p:sp>
      <p:sp>
        <p:nvSpPr>
          <p:cNvPr id="37" name="">
            <a:extLst>
              <a:ext uri="{FF2B5EF4-FFF2-40B4-BE49-F238E27FC236}">
                <a16:creationId id="{376DDF34-EB22-474D-B966-B846DE4B11F3}"/>
              </a:ext>
            </a:extLst>
          </p:cNvPr>
          <p:cNvSpPr>
            <a:spLocks noGrp="1"/>
          </p:cNvSpPr>
          <p:nvPr/>
        </p:nvSpPr>
        <p:spPr>
          <a:xfrm>
            <a:off x="1428750" y="5467350"/>
            <a:ext cx="4572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Bandit / pytest / Hypothesis / 容器</a:t>
            </a:r>
          </a:p>
        </p:txBody>
      </p:sp>
      <p:sp>
        <p:nvSpPr>
          <p:cNvPr id="38" name="">
            <a:extLst>
              <a:ext uri="{FF2B5EF4-FFF2-40B4-BE49-F238E27FC236}">
                <a16:creationId id="{ACF4171E-B3FC-43E4-A594-7FC33AEE3883}"/>
              </a:ext>
            </a:extLst>
          </p:cNvPr>
          <p:cNvSpPr>
            <a:spLocks noGrp="1"/>
          </p:cNvSpPr>
          <p:nvPr/>
        </p:nvSpPr>
        <p:spPr>
          <a:xfrm>
            <a:off x="6324600" y="5467350"/>
            <a:ext cx="14668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0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rPr>
              <a:t>自主实现</a:t>
            </a:r>
          </a:p>
        </p:txBody>
      </p:sp>
      <p:sp>
        <p:nvSpPr>
          <p:cNvPr id="39" name="">
            <a:extLst>
              <a:ext uri="{FF2B5EF4-FFF2-40B4-BE49-F238E27FC236}">
                <a16:creationId id="{3FB3F221-5574-4C32-85B8-3AC4483DE656}"/>
              </a:ext>
            </a:extLst>
          </p:cNvPr>
          <p:cNvSpPr>
            <a:spLocks noGrp="1"/>
          </p:cNvSpPr>
          <p:nvPr/>
        </p:nvSpPr>
        <p:spPr>
          <a:xfrm>
            <a:off x="7839075" y="546735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上下文、判据、编排与证据</a:t>
            </a:r>
          </a:p>
        </p:txBody>
      </p:sp>
    </p:spTree>
    <p:extLst>
      <p:ext uri="{BB962C8B-B14F-4D97-AF65-F5344CB8AC3E}">
        <p14:creationId val="637528130"/>
      </p:ext>
    </p:extLst>
  </p:cSld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9B2C017A-5F91-4667-A147-FC6A84293FAA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9525"/>
          </a:xfrm>
          <a:prstGeom prst="rect">
            <a:avLst/>
          </a:prstGeom>
          <a:solidFill>
            <a:srgbClr val="D5DEDE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a16:creationId id="{BCCEC60B-BD6D-4DB0-91DF-61E8FD59E4A0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大创中期汇报  ·  2026.10</a:t>
            </a:r>
          </a:p>
        </p:txBody>
      </p:sp>
      <p:sp>
        <p:nvSpPr>
          <p:cNvPr id="4" name="">
            <a:extLst>
              <a:ext uri="{FF2B5EF4-FFF2-40B4-BE49-F238E27FC236}">
                <a16:creationId id="{163AA3C3-3980-4C80-AF0E-B614D2583A1E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4 / 7</a:t>
            </a:r>
          </a:p>
        </p:txBody>
      </p:sp>
      <p:sp>
        <p:nvSpPr>
          <p:cNvPr id="5" name="">
            <a:extLst>
              <a:ext uri="{FF2B5EF4-FFF2-40B4-BE49-F238E27FC236}">
                <a16:creationId id="{4CEDA1BE-5B45-44E7-81EB-2CA953C78D5C}"/>
              </a:ext>
            </a:extLst>
          </p:cNvPr>
          <p:cNvSpPr>
            <a:spLocks noGrp="1"/>
          </p:cNvSpPr>
          <p:nvPr/>
        </p:nvSpPr>
        <p:spPr>
          <a:xfrm>
            <a:off x="514350" y="438150"/>
            <a:ext cx="111633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22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22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22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22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22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22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22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22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22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322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同一测试，核对缺陷版与修复版</a:t>
            </a:r>
          </a:p>
        </p:txBody>
      </p:sp>
      <p:sp>
        <p:nvSpPr>
          <p:cNvPr id="6" name="">
            <a:extLst>
              <a:ext uri="{FF2B5EF4-FFF2-40B4-BE49-F238E27FC236}">
                <a16:creationId id="{923C6032-F9AB-4BE4-B15A-7558345AE19A}"/>
              </a:ext>
            </a:extLst>
          </p:cNvPr>
          <p:cNvSpPr>
            <a:spLocks noGrp="1"/>
          </p:cNvSpPr>
          <p:nvPr/>
        </p:nvSpPr>
        <p:spPr>
          <a:xfrm>
            <a:off x="514350" y="1362075"/>
            <a:ext cx="11163300" cy="571500"/>
          </a:xfrm>
          <a:prstGeom prst="rect">
            <a:avLst/>
          </a:prstGeom>
          <a:solidFill>
            <a:srgbClr val="102D3B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a16:creationId id="{D81213A9-F6F9-4D4D-A50B-904F0FD9A35C}"/>
              </a:ext>
            </a:extLst>
          </p:cNvPr>
          <p:cNvSpPr>
            <a:spLocks noGrp="1"/>
          </p:cNvSpPr>
          <p:nvPr/>
        </p:nvSpPr>
        <p:spPr>
          <a:xfrm>
            <a:off x="742950" y="1476375"/>
            <a:ext cx="6667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FFFFFF"/>
                </a:solidFill>
                <a:latin typeface="Noto Sans Mono CJK SC"/>
                <a:ea typeface="Noto Sans Mono CJK SC"/>
                <a:cs typeface="Noto Sans Mono CJK SC"/>
              </a:defRPr>
            </a:defPPr>
            <a:lvl1pPr>
              <a:defRPr sz="2100" b="1">
                <a:solidFill>
                  <a:srgbClr val="FFFFFF"/>
                </a:solidFill>
                <a:latin typeface="Noto Sans Mono CJK SC"/>
                <a:ea typeface="Noto Sans Mono CJK SC"/>
                <a:cs typeface="Noto Sans Mono CJK SC"/>
              </a:defRPr>
            </a:lvl1pPr>
            <a:lvl2pPr>
              <a:defRPr sz="2100" b="1">
                <a:solidFill>
                  <a:srgbClr val="FFFFFF"/>
                </a:solidFill>
                <a:latin typeface="Noto Sans Mono CJK SC"/>
                <a:ea typeface="Noto Sans Mono CJK SC"/>
                <a:cs typeface="Noto Sans Mono CJK SC"/>
              </a:defRPr>
            </a:lvl2pPr>
            <a:lvl3pPr>
              <a:defRPr sz="2100" b="1">
                <a:solidFill>
                  <a:srgbClr val="FFFFFF"/>
                </a:solidFill>
                <a:latin typeface="Noto Sans Mono CJK SC"/>
                <a:ea typeface="Noto Sans Mono CJK SC"/>
                <a:cs typeface="Noto Sans Mono CJK SC"/>
              </a:defRPr>
            </a:lvl3pPr>
            <a:lvl4pPr>
              <a:defRPr sz="2100" b="1">
                <a:solidFill>
                  <a:srgbClr val="FFFFFF"/>
                </a:solidFill>
                <a:latin typeface="Noto Sans Mono CJK SC"/>
                <a:ea typeface="Noto Sans Mono CJK SC"/>
                <a:cs typeface="Noto Sans Mono CJK SC"/>
              </a:defRPr>
            </a:lvl4pPr>
            <a:lvl5pPr>
              <a:defRPr sz="2100" b="1">
                <a:solidFill>
                  <a:srgbClr val="FFFFFF"/>
                </a:solidFill>
                <a:latin typeface="Noto Sans Mono CJK SC"/>
                <a:ea typeface="Noto Sans Mono CJK SC"/>
                <a:cs typeface="Noto Sans Mono CJK SC"/>
              </a:defRPr>
            </a:lvl5pPr>
            <a:lvl6pPr>
              <a:defRPr sz="2100" b="1">
                <a:solidFill>
                  <a:srgbClr val="FFFFFF"/>
                </a:solidFill>
                <a:latin typeface="Noto Sans Mono CJK SC"/>
                <a:ea typeface="Noto Sans Mono CJK SC"/>
                <a:cs typeface="Noto Sans Mono CJK SC"/>
              </a:defRPr>
            </a:lvl6pPr>
            <a:lvl7pPr>
              <a:defRPr sz="2100" b="1">
                <a:solidFill>
                  <a:srgbClr val="FFFFFF"/>
                </a:solidFill>
                <a:latin typeface="Noto Sans Mono CJK SC"/>
                <a:ea typeface="Noto Sans Mono CJK SC"/>
                <a:cs typeface="Noto Sans Mono CJK SC"/>
              </a:defRPr>
            </a:lvl7pPr>
            <a:lvl8pPr>
              <a:defRPr sz="2100" b="1">
                <a:solidFill>
                  <a:srgbClr val="FFFFFF"/>
                </a:solidFill>
                <a:latin typeface="Noto Sans Mono CJK SC"/>
                <a:ea typeface="Noto Sans Mono CJK SC"/>
                <a:cs typeface="Noto Sans Mono CJK SC"/>
              </a:defRPr>
            </a:lvl8pPr>
            <a:lvl9pPr>
              <a:defRPr sz="2100" b="1">
                <a:solidFill>
                  <a:srgbClr val="FFFFFF"/>
                </a:solidFill>
                <a:latin typeface="Noto Sans Mono CJK SC"/>
                <a:ea typeface="Noto Sans Mono CJK SC"/>
                <a:cs typeface="Noto Sans Mono CJK SC"/>
              </a:defRPr>
            </a:lvl9pPr>
          </a:lstStyle>
          <a:p>
            <a:pPr>
              <a:defRPr sz="2100" b="1">
                <a:solidFill>
                  <a:srgbClr val="FFFFFF"/>
                </a:solidFill>
                <a:latin typeface="Noto Sans Mono CJK SC"/>
                <a:ea typeface="Noto Sans Mono CJK SC"/>
                <a:cs typeface="Noto Sans Mono CJK SC"/>
              </a:defRPr>
            </a:pPr>
            <a:r>
              <a:rPr sz="2100" b="1">
                <a:solidFill>
                  <a:srgbClr val="FFFFFF"/>
                </a:solidFill>
                <a:latin typeface="Noto Sans Mono CJK SC"/>
                <a:ea typeface="Noto Sans Mono CJK SC"/>
                <a:cs typeface="Noto Sans Mono CJK SC"/>
              </a:rPr>
              <a:t>输入：../secret.txt</a:t>
            </a:r>
          </a:p>
        </p:txBody>
      </p:sp>
      <p:sp>
        <p:nvSpPr>
          <p:cNvPr id="8" name="">
            <a:extLst>
              <a:ext uri="{FF2B5EF4-FFF2-40B4-BE49-F238E27FC236}">
                <a16:creationId id="{30336889-3D69-45FF-99E5-10A6BF315004}"/>
              </a:ext>
            </a:extLst>
          </p:cNvPr>
          <p:cNvSpPr>
            <a:spLocks noGrp="1"/>
          </p:cNvSpPr>
          <p:nvPr/>
        </p:nvSpPr>
        <p:spPr>
          <a:xfrm>
            <a:off x="8248650" y="1524000"/>
            <a:ext cx="3238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8ADBC7"/>
                </a:solidFill>
                <a:latin typeface="Noto Sans CJK SC"/>
                <a:ea typeface="Noto Sans CJK SC"/>
                <a:cs typeface="Noto Sans CJK SC"/>
              </a:rPr>
              <a:t>path-01 · 人工参考测试</a:t>
            </a:r>
          </a:p>
        </p:txBody>
      </p:sp>
      <p:sp>
        <p:nvSpPr>
          <p:cNvPr id="9" name="">
            <a:extLst>
              <a:ext uri="{FF2B5EF4-FFF2-40B4-BE49-F238E27FC236}">
                <a16:creationId id="{C250B60C-673C-4FE3-9659-0C878DCA81AA}"/>
              </a:ext>
            </a:extLst>
          </p:cNvPr>
          <p:cNvSpPr>
            <a:spLocks noGrp="1"/>
          </p:cNvSpPr>
          <p:nvPr/>
        </p:nvSpPr>
        <p:spPr>
          <a:xfrm>
            <a:off x="514350" y="2181225"/>
            <a:ext cx="5400675" cy="3238500"/>
          </a:xfrm>
          <a:prstGeom prst="rect">
            <a:avLst/>
          </a:prstGeom>
          <a:solidFill>
            <a:srgbClr val="F6E7E2"/>
          </a:solidFill>
          <a:ln w="0">
            <a:noFill/>
          </a:ln>
        </p:spPr>
      </p:sp>
      <p:sp>
        <p:nvSpPr>
          <p:cNvPr id="10" name="">
            <a:extLst>
              <a:ext uri="{FF2B5EF4-FFF2-40B4-BE49-F238E27FC236}">
                <a16:creationId id="{23086E54-2A98-4D32-BC19-796B86199484}"/>
              </a:ext>
            </a:extLst>
          </p:cNvPr>
          <p:cNvSpPr>
            <a:spLocks noGrp="1"/>
          </p:cNvSpPr>
          <p:nvPr/>
        </p:nvSpPr>
        <p:spPr>
          <a:xfrm>
            <a:off x="6276975" y="2181225"/>
            <a:ext cx="5400675" cy="3238500"/>
          </a:xfrm>
          <a:prstGeom prst="rect">
            <a:avLst/>
          </a:prstGeom>
          <a:solidFill>
            <a:srgbClr val="E5F1EB"/>
          </a:solidFill>
          <a:ln w="0">
            <a:noFill/>
          </a:ln>
        </p:spPr>
      </p:sp>
      <p:sp>
        <p:nvSpPr>
          <p:cNvPr id="11" name="">
            <a:extLst>
              <a:ext uri="{FF2B5EF4-FFF2-40B4-BE49-F238E27FC236}">
                <a16:creationId id="{7A07D92D-9305-4AD2-A8EA-D755314BADF7}"/>
              </a:ext>
            </a:extLst>
          </p:cNvPr>
          <p:cNvSpPr>
            <a:spLocks noGrp="1"/>
          </p:cNvSpPr>
          <p:nvPr/>
        </p:nvSpPr>
        <p:spPr>
          <a:xfrm>
            <a:off x="781050" y="2390775"/>
            <a:ext cx="45720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6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6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6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6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6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6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6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6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6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6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rPr>
              <a:t>缺陷版</a:t>
            </a:r>
          </a:p>
        </p:txBody>
      </p:sp>
      <p:sp>
        <p:nvSpPr>
          <p:cNvPr id="12" name="">
            <a:extLst>
              <a:ext uri="{FF2B5EF4-FFF2-40B4-BE49-F238E27FC236}">
                <a16:creationId id="{3916A916-4399-4DA9-AF7F-92200721A884}"/>
              </a:ext>
            </a:extLst>
          </p:cNvPr>
          <p:cNvSpPr>
            <a:spLocks noGrp="1"/>
          </p:cNvSpPr>
          <p:nvPr/>
        </p:nvSpPr>
        <p:spPr>
          <a:xfrm>
            <a:off x="6543675" y="2390775"/>
            <a:ext cx="45720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6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6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6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6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6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6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6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6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6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6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rPr>
              <a:t>修复版</a:t>
            </a:r>
          </a:p>
        </p:txBody>
      </p:sp>
      <p:sp>
        <p:nvSpPr>
          <p:cNvPr id="13" name="">
            <a:extLst>
              <a:ext uri="{FF2B5EF4-FFF2-40B4-BE49-F238E27FC236}">
                <a16:creationId id="{940A94F4-E5D6-4199-B80B-EF78C68A315A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defPPr>
            <a:lvl1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1pPr>
            <a:lvl2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2pPr>
            <a:lvl3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3pPr>
            <a:lvl4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4pPr>
            <a:lvl5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5pPr>
            <a:lvl6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6pPr>
            <a:lvl7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7pPr>
            <a:lvl8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8pPr>
            <a:lvl9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9pPr>
          </a:lstStyle>
          <a:p>
            <a: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pPr>
            <a:r>
              <a: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rPr>
              <a:t>open(join(root, value))</a:t>
            </a:r>
          </a:p>
        </p:txBody>
      </p:sp>
      <p:sp>
        <p:nvSpPr>
          <p:cNvPr id="14" name="">
            <a:extLst>
              <a:ext uri="{FF2B5EF4-FFF2-40B4-BE49-F238E27FC236}">
                <a16:creationId id="{AE5F2D61-228D-447D-978C-9FD0761BD78B}"/>
              </a:ext>
            </a:extLst>
          </p:cNvPr>
          <p:cNvSpPr>
            <a:spLocks noGrp="1"/>
          </p:cNvSpPr>
          <p:nvPr/>
        </p:nvSpPr>
        <p:spPr>
          <a:xfrm>
            <a:off x="6543675" y="3086100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defPPr>
            <a:lvl1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1pPr>
            <a:lvl2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2pPr>
            <a:lvl3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3pPr>
            <a:lvl4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4pPr>
            <a:lvl5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5pPr>
            <a:lvl6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6pPr>
            <a:lvl7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7pPr>
            <a:lvl8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8pPr>
            <a:lvl9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lvl9pPr>
          </a:lstStyle>
          <a:p>
            <a:pPr>
              <a:def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defRPr>
            </a:pPr>
            <a:r>
              <a:rPr sz="1875" b="0">
                <a:solidFill>
                  <a:srgbClr val="102D3B"/>
                </a:solidFill>
                <a:latin typeface="Noto Sans Mono CJK SC"/>
                <a:ea typeface="Noto Sans Mono CJK SC"/>
                <a:cs typeface="Noto Sans Mono CJK SC"/>
              </a:rPr>
              <a:t>resolve + boundary check</a:t>
            </a:r>
          </a:p>
        </p:txBody>
      </p:sp>
      <p:sp>
        <p:nvSpPr>
          <p:cNvPr id="15" name="">
            <a:extLst>
              <a:ext uri="{FF2B5EF4-FFF2-40B4-BE49-F238E27FC236}">
                <a16:creationId id="{8C6947F4-55D4-476E-9834-2A38E3E1DEA7}"/>
              </a:ext>
            </a:extLst>
          </p:cNvPr>
          <p:cNvSpPr>
            <a:spLocks noGrp="1"/>
          </p:cNvSpPr>
          <p:nvPr/>
        </p:nvSpPr>
        <p:spPr>
          <a:xfrm>
            <a:off x="781050" y="3838575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读到目录外的随机哨兵</a:t>
            </a:r>
          </a:p>
        </p:txBody>
      </p:sp>
      <p:sp>
        <p:nvSpPr>
          <p:cNvPr id="16" name="">
            <a:extLst>
              <a:ext uri="{FF2B5EF4-FFF2-40B4-BE49-F238E27FC236}">
                <a16:creationId id="{187C7F43-87FD-4F13-9989-2B5DB7BE6453}"/>
              </a:ext>
            </a:extLst>
          </p:cNvPr>
          <p:cNvSpPr>
            <a:spLocks noGrp="1"/>
          </p:cNvSpPr>
          <p:nvPr/>
        </p:nvSpPr>
        <p:spPr>
          <a:xfrm>
            <a:off x="6543675" y="3838575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拒绝越界访问</a:t>
            </a:r>
          </a:p>
        </p:txBody>
      </p:sp>
      <p:sp>
        <p:nvSpPr>
          <p:cNvPr id="17" name="">
            <a:extLst>
              <a:ext uri="{FF2B5EF4-FFF2-40B4-BE49-F238E27FC236}">
                <a16:creationId id="{309523EE-2C44-4DED-B133-70A5EC06618D}"/>
              </a:ext>
            </a:extLst>
          </p:cNvPr>
          <p:cNvSpPr>
            <a:spLocks noGrp="1"/>
          </p:cNvSpPr>
          <p:nvPr/>
        </p:nvSpPr>
        <p:spPr>
          <a:xfrm>
            <a:off x="781050" y="468630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3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rPr>
              <a:t>violation · 违规</a:t>
            </a:r>
          </a:p>
        </p:txBody>
      </p:sp>
      <p:sp>
        <p:nvSpPr>
          <p:cNvPr id="18" name="">
            <a:extLst>
              <a:ext uri="{FF2B5EF4-FFF2-40B4-BE49-F238E27FC236}">
                <a16:creationId id="{B671E38D-BDA1-490B-87B6-EECBB7C2006B}"/>
              </a:ext>
            </a:extLst>
          </p:cNvPr>
          <p:cNvSpPr>
            <a:spLocks noGrp="1"/>
          </p:cNvSpPr>
          <p:nvPr/>
        </p:nvSpPr>
        <p:spPr>
          <a:xfrm>
            <a:off x="6543675" y="468630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3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rPr>
              <a:t>pass · 同一测试通过</a:t>
            </a:r>
          </a:p>
        </p:txBody>
      </p:sp>
      <p:sp>
        <p:nvSpPr>
          <p:cNvPr id="19" name="shape-19"/>
          <p:cNvSpPr/>
          <p:nvPr/>
        </p:nvSpPr>
        <p:spPr>
          <a:xfrm>
            <a:off x="523875" y="5676900"/>
            <a:ext cx="38100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102D3B"/>
                </a:solidFill>
                <a:latin typeface="Microsoft YaHei"/>
                <a:ea typeface="Microsoft YaHei"/>
                <a:cs typeface="Microsoft YaHei"/>
              </a:rPr>
              <a:t>判定依据：实际越界访问</a:t>
            </a:r>
          </a:p>
        </p:txBody>
      </p:sp>
      <p:sp>
        <p:nvSpPr>
          <p:cNvPr id="20" name="shape-20"/>
          <p:cNvSpPr/>
          <p:nvPr/>
        </p:nvSpPr>
        <p:spPr>
          <a:xfrm>
            <a:off x="4714875" y="5695950"/>
            <a:ext cx="69532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80" dirty="0">
                <a:solidFill>
                  <a:srgbClr val="54666F"/>
                </a:solidFill>
                <a:latin typeface="Microsoft YaHei"/>
                <a:ea typeface="Microsoft YaHei"/>
                <a:cs typeface="Microsoft YaHei"/>
              </a:rPr>
              <a:t>同一测试在缺陷版违规，在修复版通过</a:t>
            </a:r>
          </a:p>
        </p:txBody>
      </p:sp>
    </p:spTree>
    <p:extLst>
      <p:ext uri="{BB962C8B-B14F-4D97-AF65-F5344CB8AC3E}">
        <p14:creationId val="1770008752"/>
      </p:ext>
    </p:extLst>
  </p:cSld>
</p:sld>
</file>

<file path=ppt/slides/slide5.xml><?xml version="1.0" encoding="utf-8"?>
<p:sld xmlns:a="http://schemas.openxmlformats.org/drawingml/2006/main" xmlns:a16="http://schemas.microsoft.com/office/drawing/2014/main" xmlns:c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25440517-6217-491A-A6F0-F8C60573CB50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9525"/>
          </a:xfrm>
          <a:prstGeom prst="rect">
            <a:avLst/>
          </a:prstGeom>
          <a:solidFill>
            <a:srgbClr val="D5DEDE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a16:creationId id="{8246DB45-8000-412B-BDB7-1A6848FFC8BD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大创中期汇报  ·  2026.10</a:t>
            </a:r>
          </a:p>
        </p:txBody>
      </p:sp>
      <p:sp>
        <p:nvSpPr>
          <p:cNvPr id="4" name="">
            <a:extLst>
              <a:ext uri="{FF2B5EF4-FFF2-40B4-BE49-F238E27FC236}">
                <a16:creationId id="{D3659BB6-E1F8-4A95-BECD-E6A78822D8F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5 / 7</a:t>
            </a:r>
          </a:p>
        </p:txBody>
      </p:sp>
      <p:sp>
        <p:nvSpPr>
          <p:cNvPr id="5" name="shape-5"/>
          <p:cNvSpPr/>
          <p:nvPr/>
        </p:nvSpPr>
        <p:spPr>
          <a:xfrm>
            <a:off x="514350" y="438150"/>
            <a:ext cx="111633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220" b="1" dirty="0">
                <a:solidFill>
                  <a:srgbClr val="102D3B"/>
                </a:solidFill>
                <a:latin typeface="Microsoft YaHei"/>
                <a:ea typeface="Microsoft YaHei"/>
                <a:cs typeface="Microsoft YaHei"/>
              </a:rPr>
              <a:t>Benchmark：动态复现与静态线索</a:t>
            </a:r>
          </a:p>
        </p:txBody>
      </p:sp>
      <p:sp>
        <p:nvSpPr>
          <p:cNvPr id="6" name="">
            <a:extLst>
              <a:ext uri="{FF2B5EF4-FFF2-40B4-BE49-F238E27FC236}">
                <a16:creationId id="{CA516D0C-3E61-43DD-8B86-B66C92F34412}"/>
              </a:ext>
            </a:extLst>
          </p:cNvPr>
          <p:cNvSpPr>
            <a:spLocks noGrp="1"/>
          </p:cNvSpPr>
          <p:nvPr/>
        </p:nvSpPr>
        <p:spPr>
          <a:xfrm>
            <a:off x="533400" y="1228725"/>
            <a:ext cx="11144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A 源码直接生成     B 增加 Bandit 告警     C 再增加 AST 上下文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id="{F3C15AB1-864C-4C3A-87B5-A6DF769C26D2}"/>
              </a:ext>
            </a:extLst>
          </p:cNvPr>
          <p:cNvGraphicFramePr/>
          <p:nvPr/>
        </p:nvGraphicFramePr>
        <p:xfrm>
          <a:off x="457200" y="1895475"/>
          <a:ext cx="5905500" cy="3295650"/>
        </p:xfrm>
        <a:graphic>
          <a:graphicData uri="http://schemas.openxmlformats.org/drawingml/2006/chart">
            <c:chart r:id="R2114f01493474832"/>
          </a:graphicData>
        </a:graphic>
      </p:graphicFrame>
      <p:graphicFrame>
        <p:nvGraphicFramePr>
          <p:cNvPr id="8" name="securityeval-static"/>
          <p:cNvGraphicFramePr>
            <a:graphicFrameLocks noGrp="1"/>
          </p:cNvGraphicFramePr>
          <p:nvPr/>
        </p:nvGraphicFramePr>
        <p:xfrm>
          <a:off x="6677025" y="2266950"/>
          <a:ext cx="4981575" cy="1809750"/>
        </p:xfrm>
        <a:graphic>
          <a:graphicData uri="http://schemas.openxmlformats.org/drawingml/2006/table">
            <a:tbl>
              <a:tblPr firstRow="0" bandRow="1">
</a:tblPr>
              <a:tblGrid>
                <a:gridCol w="2066925"/>
                <a:gridCol w="1504950"/>
                <a:gridCol w="1409700"/>
              </a:tblGrid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</a:rPr>
                        <a:t>静态方法</a:t>
                      </a:r>
                    </a:p>
                  </a:txBody>
                  <a:tcPr anchor="ctr" marL="76200" marR="76200" marT="76200" marB="76200">
                    <a:lnL w="9525">
                      <a:solidFill>
                        <a:srgbClr val="D5DEDE"/>
                      </a:solidFill>
                      <a:prstDash val="solid"/>
                    </a:lnL>
                    <a:lnR w="9525">
                      <a:solidFill>
                        <a:srgbClr val="D5DEDE"/>
                      </a:solidFill>
                      <a:prstDash val="solid"/>
                    </a:lnR>
                    <a:lnT w="9525">
                      <a:solidFill>
                        <a:srgbClr val="D5DEDE"/>
                      </a:solidFill>
                      <a:prstDash val="solid"/>
                    </a:lnT>
                    <a:lnB w="9525">
                      <a:solidFill>
                        <a:srgbClr val="D5DEDE"/>
                      </a:solidFill>
                      <a:prstDash val="solid"/>
                    </a:lnB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</a:rPr>
                        <a:t>有线索样本</a:t>
                      </a:r>
                    </a:p>
                  </a:txBody>
                  <a:tcPr anchor="ctr" marL="76200" marR="76200" marT="76200" marB="76200">
                    <a:lnL w="9525">
                      <a:solidFill>
                        <a:srgbClr val="D5DEDE"/>
                      </a:solidFill>
                      <a:prstDash val="solid"/>
                    </a:lnL>
                    <a:lnR w="9525">
                      <a:solidFill>
                        <a:srgbClr val="D5DEDE"/>
                      </a:solidFill>
                      <a:prstDash val="solid"/>
                    </a:lnR>
                    <a:lnT w="9525">
                      <a:solidFill>
                        <a:srgbClr val="D5DEDE"/>
                      </a:solidFill>
                      <a:prstDash val="solid"/>
                    </a:lnT>
                    <a:lnB w="9525">
                      <a:solidFill>
                        <a:srgbClr val="D5DEDE"/>
                      </a:solidFill>
                      <a:prstDash val="solid"/>
                    </a:lnB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</a:rPr>
                        <a:t>覆盖比例</a:t>
                      </a:r>
                    </a:p>
                  </a:txBody>
                  <a:tcPr anchor="ctr" marL="76200" marR="76200" marT="76200" marB="76200">
                    <a:lnL w="9525">
                      <a:solidFill>
                        <a:srgbClr val="D5DEDE"/>
                      </a:solidFill>
                      <a:prstDash val="solid"/>
                    </a:lnL>
                    <a:lnR w="9525">
                      <a:solidFill>
                        <a:srgbClr val="D5DEDE"/>
                      </a:solidFill>
                      <a:prstDash val="solid"/>
                    </a:lnR>
                    <a:lnT w="9525">
                      <a:solidFill>
                        <a:srgbClr val="D5DEDE"/>
                      </a:solidFill>
                      <a:prstDash val="solid"/>
                    </a:lnT>
                    <a:lnB w="9525">
                      <a:solidFill>
                        <a:srgbClr val="D5DEDE"/>
                      </a:solidFill>
                      <a:prstDash val="solid"/>
                    </a:lnB>
                    <a:solidFill>
                      <a:srgbClr val="102D3B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102D3B"/>
                          </a:solidFill>
                        </a:rPr>
                        <a:t>Bandit</a:t>
                      </a:r>
                    </a:p>
                  </a:txBody>
                  <a:tcPr anchor="ctr" marL="76200" marR="76200" marT="76200" marB="76200">
                    <a:lnL w="9525">
                      <a:solidFill>
                        <a:srgbClr val="D5DEDE"/>
                      </a:solidFill>
                      <a:prstDash val="solid"/>
                    </a:lnL>
                    <a:lnR w="9525">
                      <a:solidFill>
                        <a:srgbClr val="D5DEDE"/>
                      </a:solidFill>
                      <a:prstDash val="solid"/>
                    </a:lnR>
                    <a:lnT w="9525">
                      <a:solidFill>
                        <a:srgbClr val="D5DEDE"/>
                      </a:solidFill>
                      <a:prstDash val="solid"/>
                    </a:lnT>
                    <a:lnB w="9525">
                      <a:solidFill>
                        <a:srgbClr val="D5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02D3B"/>
                          </a:solidFill>
                        </a:rPr>
                        <a:t>48 / 121</a:t>
                      </a:r>
                    </a:p>
                  </a:txBody>
                  <a:tcPr anchor="ctr" marL="76200" marR="76200" marT="76200" marB="76200">
                    <a:lnL w="9525">
                      <a:solidFill>
                        <a:srgbClr val="D5DEDE"/>
                      </a:solidFill>
                      <a:prstDash val="solid"/>
                    </a:lnL>
                    <a:lnR w="9525">
                      <a:solidFill>
                        <a:srgbClr val="D5DEDE"/>
                      </a:solidFill>
                      <a:prstDash val="solid"/>
                    </a:lnR>
                    <a:lnT w="9525">
                      <a:solidFill>
                        <a:srgbClr val="D5DEDE"/>
                      </a:solidFill>
                      <a:prstDash val="solid"/>
                    </a:lnT>
                    <a:lnB w="9525">
                      <a:solidFill>
                        <a:srgbClr val="D5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02D3B"/>
                          </a:solidFill>
                        </a:rPr>
                        <a:t>39.7%</a:t>
                      </a:r>
                    </a:p>
                  </a:txBody>
                  <a:tcPr anchor="ctr" marL="76200" marR="76200" marT="76200" marB="76200">
                    <a:lnL w="9525">
                      <a:solidFill>
                        <a:srgbClr val="D5DEDE"/>
                      </a:solidFill>
                      <a:prstDash val="solid"/>
                    </a:lnL>
                    <a:lnR w="9525">
                      <a:solidFill>
                        <a:srgbClr val="D5DEDE"/>
                      </a:solidFill>
                      <a:prstDash val="solid"/>
                    </a:lnR>
                    <a:lnT w="9525">
                      <a:solidFill>
                        <a:srgbClr val="D5DEDE"/>
                      </a:solidFill>
                      <a:prstDash val="solid"/>
                    </a:lnT>
                    <a:lnB w="9525">
                      <a:solidFill>
                        <a:srgbClr val="D5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7"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102D3B"/>
                          </a:solidFill>
                        </a:rPr>
                        <a:t>AST</a:t>
                      </a:r>
                    </a:p>
                  </a:txBody>
                  <a:tcPr anchor="ctr" marL="76200" marR="76200" marT="76200" marB="76200">
                    <a:lnL w="9525">
                      <a:solidFill>
                        <a:srgbClr val="D5DEDE"/>
                      </a:solidFill>
                      <a:prstDash val="solid"/>
                    </a:lnL>
                    <a:lnR w="9525">
                      <a:solidFill>
                        <a:srgbClr val="D5DEDE"/>
                      </a:solidFill>
                      <a:prstDash val="solid"/>
                    </a:lnR>
                    <a:lnT w="9525">
                      <a:solidFill>
                        <a:srgbClr val="D5DEDE"/>
                      </a:solidFill>
                      <a:prstDash val="solid"/>
                    </a:lnT>
                    <a:lnB w="9525">
                      <a:solidFill>
                        <a:srgbClr val="D5DEDE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02D3B"/>
                          </a:solidFill>
                        </a:rPr>
                        <a:t>18 / 121</a:t>
                      </a:r>
                    </a:p>
                  </a:txBody>
                  <a:tcPr anchor="ctr" marL="76200" marR="76200" marT="76200" marB="76200">
                    <a:lnL w="9525">
                      <a:solidFill>
                        <a:srgbClr val="D5DEDE"/>
                      </a:solidFill>
                      <a:prstDash val="solid"/>
                    </a:lnL>
                    <a:lnR w="9525">
                      <a:solidFill>
                        <a:srgbClr val="D5DEDE"/>
                      </a:solidFill>
                      <a:prstDash val="solid"/>
                    </a:lnR>
                    <a:lnT w="9525">
                      <a:solidFill>
                        <a:srgbClr val="D5DEDE"/>
                      </a:solidFill>
                      <a:prstDash val="solid"/>
                    </a:lnT>
                    <a:lnB w="9525">
                      <a:solidFill>
                        <a:srgbClr val="D5DEDE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02D3B"/>
                          </a:solidFill>
                        </a:rPr>
                        <a:t>14.9%</a:t>
                      </a:r>
                    </a:p>
                  </a:txBody>
                  <a:tcPr anchor="ctr" marL="76200" marR="76200" marT="76200" marB="76200">
                    <a:lnL w="9525">
                      <a:solidFill>
                        <a:srgbClr val="D5DEDE"/>
                      </a:solidFill>
                      <a:prstDash val="solid"/>
                    </a:lnL>
                    <a:lnR w="9525">
                      <a:solidFill>
                        <a:srgbClr val="D5DEDE"/>
                      </a:solidFill>
                      <a:prstDash val="solid"/>
                    </a:lnR>
                    <a:lnT w="9525">
                      <a:solidFill>
                        <a:srgbClr val="D5DEDE"/>
                      </a:solidFill>
                      <a:prstDash val="solid"/>
                    </a:lnT>
                    <a:lnB w="9525">
                      <a:solidFill>
                        <a:srgbClr val="D5DEDE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</a:tr>
              <a:tr h="452437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102D3B"/>
                          </a:solidFill>
                        </a:rPr>
                        <a:t>合并线索</a:t>
                      </a:r>
                    </a:p>
                  </a:txBody>
                  <a:tcPr anchor="ctr" marL="76200" marR="76200" marT="76200" marB="76200">
                    <a:lnL w="9525">
                      <a:solidFill>
                        <a:srgbClr val="D5DEDE"/>
                      </a:solidFill>
                      <a:prstDash val="solid"/>
                    </a:lnL>
                    <a:lnR w="9525">
                      <a:solidFill>
                        <a:srgbClr val="D5DEDE"/>
                      </a:solidFill>
                      <a:prstDash val="solid"/>
                    </a:lnR>
                    <a:lnT w="9525">
                      <a:solidFill>
                        <a:srgbClr val="D5DEDE"/>
                      </a:solidFill>
                      <a:prstDash val="solid"/>
                    </a:lnT>
                    <a:lnB w="9525">
                      <a:solidFill>
                        <a:srgbClr val="D5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02D3B"/>
                          </a:solidFill>
                        </a:rPr>
                        <a:t>53 / 121</a:t>
                      </a:r>
                    </a:p>
                  </a:txBody>
                  <a:tcPr anchor="ctr" marL="76200" marR="76200" marT="76200" marB="76200">
                    <a:lnL w="9525">
                      <a:solidFill>
                        <a:srgbClr val="D5DEDE"/>
                      </a:solidFill>
                      <a:prstDash val="solid"/>
                    </a:lnL>
                    <a:lnR w="9525">
                      <a:solidFill>
                        <a:srgbClr val="D5DEDE"/>
                      </a:solidFill>
                      <a:prstDash val="solid"/>
                    </a:lnR>
                    <a:lnT w="9525">
                      <a:solidFill>
                        <a:srgbClr val="D5DEDE"/>
                      </a:solidFill>
                      <a:prstDash val="solid"/>
                    </a:lnT>
                    <a:lnB w="9525">
                      <a:solidFill>
                        <a:srgbClr val="D5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02D3B"/>
                          </a:solidFill>
                        </a:rPr>
                        <a:t>43.8%</a:t>
                      </a:r>
                    </a:p>
                  </a:txBody>
                  <a:tcPr anchor="ctr" marL="76200" marR="76200" marT="76200" marB="76200">
                    <a:lnL w="9525">
                      <a:solidFill>
                        <a:srgbClr val="D5DEDE"/>
                      </a:solidFill>
                      <a:prstDash val="solid"/>
                    </a:lnL>
                    <a:lnR w="9525">
                      <a:solidFill>
                        <a:srgbClr val="D5DEDE"/>
                      </a:solidFill>
                      <a:prstDash val="solid"/>
                    </a:lnR>
                    <a:lnT w="9525">
                      <a:solidFill>
                        <a:srgbClr val="D5DEDE"/>
                      </a:solidFill>
                      <a:prstDash val="solid"/>
                    </a:lnT>
                    <a:lnB w="9525">
                      <a:solidFill>
                        <a:srgbClr val="D5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6" name="static-title"/>
          <p:cNvGrpSpPr/>
          <p:nvPr/>
        </p:nvGrpSpPr>
        <p:grpSpPr>
          <a:xfrm>
            <a:off x="6666738" y="1787525"/>
            <a:ext cx="3488020" cy="396050"/>
            <a:chOff x="6666738" y="1787525"/>
            <a:chExt cx="3488020" cy="396050"/>
          </a:xfrm>
        </p:grpSpPr>
        <p:sp>
          <p:nvSpPr>
            <p:cNvPr id="15" name="TextBox 15"/>
            <p:cNvSpPr txBox="1"/>
            <p:nvPr/>
          </p:nvSpPr>
          <p:spPr>
            <a:xfrm>
              <a:off x="6666738" y="1787525"/>
              <a:ext cx="348802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02D3B"/>
                  </a:solidFill>
                  <a:latin typeface="Microsoft YaHei"/>
                  <a:ea typeface="Microsoft YaHei"/>
                  <a:cs typeface="Microsoft YaHei"/>
                </a:rPr>
                <a:t>SecurityEval · 121 份代码</a:t>
              </a:r>
            </a:p>
          </p:txBody>
        </p:sp>
      </p:grpSp>
      <p:grpSp>
        <p:nvGrpSpPr>
          <p:cNvPr id="19" name="static-limits"/>
          <p:cNvGrpSpPr/>
          <p:nvPr/>
        </p:nvGrpSpPr>
        <p:grpSpPr>
          <a:xfrm>
            <a:off x="6706743" y="4273550"/>
            <a:ext cx="3537414" cy="608457"/>
            <a:chOff x="6706743" y="4273550"/>
            <a:chExt cx="3537414" cy="608457"/>
          </a:xfrm>
        </p:grpSpPr>
        <p:sp>
          <p:nvSpPr>
            <p:cNvPr id="17" name="TextBox 17"/>
            <p:cNvSpPr txBox="1"/>
            <p:nvPr/>
          </p:nvSpPr>
          <p:spPr>
            <a:xfrm>
              <a:off x="6706743" y="4273550"/>
              <a:ext cx="35374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4666F"/>
                  </a:solidFill>
                  <a:latin typeface="Microsoft YaHei"/>
                  <a:ea typeface="Microsoft YaHei"/>
                  <a:cs typeface="Microsoft YaHei"/>
                </a:rPr>
                <a:t>0 次动态执行；这里只统计静态线索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06743" y="4559300"/>
              <a:ext cx="32344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4666F"/>
                  </a:solidFill>
                  <a:latin typeface="Microsoft YaHei"/>
                  <a:ea typeface="Microsoft YaHei"/>
                  <a:cs typeface="Microsoft YaHei"/>
                </a:rPr>
                <a:t>暂未与主流 Harness 同条件对跑</a:t>
              </a:r>
            </a:p>
          </p:txBody>
        </p:sp>
      </p:grpSp>
      <p:grpSp>
        <p:nvGrpSpPr>
          <p:cNvPr id="22" name="dynamic-denominators"/>
          <p:cNvGrpSpPr/>
          <p:nvPr/>
        </p:nvGrpSpPr>
        <p:grpSpPr>
          <a:xfrm>
            <a:off x="553974" y="5229225"/>
            <a:ext cx="3452906" cy="585216"/>
            <a:chOff x="553974" y="5229225"/>
            <a:chExt cx="3452906" cy="585216"/>
          </a:xfrm>
        </p:grpSpPr>
        <p:sp>
          <p:nvSpPr>
            <p:cNvPr id="20" name="TextBox 20"/>
            <p:cNvSpPr txBox="1"/>
            <p:nvPr/>
          </p:nvSpPr>
          <p:spPr>
            <a:xfrm>
              <a:off x="553974" y="5229225"/>
              <a:ext cx="345290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02D3B"/>
                  </a:solidFill>
                  <a:latin typeface="Microsoft YaHei"/>
                  <a:ea typeface="Microsoft YaHei"/>
                  <a:cs typeface="Microsoft YaHei"/>
                </a:rPr>
                <a:t>冻结 A 61/69 · B 62/69 · C 67/69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3974" y="5505450"/>
              <a:ext cx="345290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02D3B"/>
                  </a:solidFill>
                  <a:latin typeface="Microsoft YaHei"/>
                  <a:ea typeface="Microsoft YaHei"/>
                  <a:cs typeface="Microsoft YaHei"/>
                </a:rPr>
                <a:t>补充 A 20/24 · B 22/24 · C 22/24</a:t>
              </a:r>
            </a:p>
          </p:txBody>
        </p:sp>
      </p:grpSp>
      <p:grpSp>
        <p:nvGrpSpPr>
          <p:cNvPr id="25" name="budget-note"/>
          <p:cNvGrpSpPr/>
          <p:nvPr/>
        </p:nvGrpSpPr>
        <p:grpSpPr>
          <a:xfrm>
            <a:off x="6707124" y="5124450"/>
            <a:ext cx="3025701" cy="585216"/>
            <a:chOff x="6707124" y="5124450"/>
            <a:chExt cx="3025701" cy="585216"/>
          </a:xfrm>
        </p:grpSpPr>
        <p:sp>
          <p:nvSpPr>
            <p:cNvPr id="23" name="TextBox 23"/>
            <p:cNvSpPr txBox="1"/>
            <p:nvPr/>
          </p:nvSpPr>
          <p:spPr>
            <a:xfrm>
              <a:off x="6707124" y="5124450"/>
              <a:ext cx="30257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4666F"/>
                  </a:solidFill>
                  <a:latin typeface="Microsoft YaHei"/>
                  <a:ea typeface="Microsoft YaHei"/>
                  <a:cs typeface="Microsoft YaHei"/>
                </a:rPr>
                <a:t>冻结批次排除 3 个超预算匹配块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07124" y="5400675"/>
              <a:ext cx="278109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4666F"/>
                  </a:solidFill>
                  <a:latin typeface="Microsoft YaHei"/>
                  <a:ea typeface="Microsoft YaHei"/>
                  <a:cs typeface="Microsoft YaHei"/>
                </a:rPr>
                <a:t>两类指标及两批数据分别报告</a:t>
              </a:r>
            </a:p>
          </p:txBody>
        </p:sp>
      </p:grpSp>
      <p:grpSp>
        <p:nvGrpSpPr>
          <p:cNvPr id="28" name="failed-case"/>
          <p:cNvGrpSpPr/>
          <p:nvPr/>
        </p:nvGrpSpPr>
        <p:grpSpPr>
          <a:xfrm>
            <a:off x="514350" y="5838825"/>
            <a:ext cx="11163300" cy="381000"/>
            <a:chOff x="514350" y="5838825"/>
            <a:chExt cx="11163300" cy="381000"/>
          </a:xfrm>
        </p:grpSpPr>
        <p:sp>
          <p:nvSpPr>
            <p:cNvPr id="26" name="Rectangle 26"/>
            <p:cNvSpPr/>
            <p:nvPr/>
          </p:nvSpPr>
          <p:spPr>
            <a:xfrm>
              <a:off x="514350" y="5838825"/>
              <a:ext cx="11163300" cy="381000"/>
            </a:xfrm>
            <a:prstGeom prst="rect">
              <a:avLst/>
            </a:prstGeom>
            <a:solidFill>
              <a:srgbClr val="ECE6D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5518" y="5892800"/>
              <a:ext cx="7502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02D3B"/>
                  </a:solidFill>
                  <a:latin typeface="Microsoft YaHei"/>
                  <a:ea typeface="Microsoft YaHei"/>
                  <a:cs typeface="Microsoft YaHei"/>
                </a:rPr>
                <a:t>失败案例 path-10：三组某轮均漏掉 ./../secret.txt；未触发不代表安全</a:t>
              </a:r>
            </a:p>
          </p:txBody>
        </p:sp>
      </p:grpSp>
    </p:spTree>
    <p:extLst>
      <p:ext uri="{BB962C8B-B14F-4D97-AF65-F5344CB8AC3E}">
        <p14:creationId val="1301178371"/>
      </p:ext>
    </p:extLst>
  </p:cSld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E074C653-FCD2-43A3-BA1A-978FB1224ABA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9525"/>
          </a:xfrm>
          <a:prstGeom prst="rect">
            <a:avLst/>
          </a:prstGeom>
          <a:solidFill>
            <a:srgbClr val="D5DEDE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a16:creationId id="{AA20E0A3-4C2B-428D-966E-DF80A1484DE9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大创中期汇报  ·  2026.10</a:t>
            </a:r>
          </a:p>
        </p:txBody>
      </p:sp>
      <p:sp>
        <p:nvSpPr>
          <p:cNvPr id="4" name="">
            <a:extLst>
              <a:ext uri="{FF2B5EF4-FFF2-40B4-BE49-F238E27FC236}">
                <a16:creationId id="{2B70547F-F0C5-459F-89AE-A2A97626BF1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6 / 7</a:t>
            </a:r>
          </a:p>
        </p:txBody>
      </p:sp>
      <p:sp>
        <p:nvSpPr>
          <p:cNvPr id="5" name="shape-5"/>
          <p:cNvSpPr/>
          <p:nvPr/>
        </p:nvSpPr>
        <p:spPr>
          <a:xfrm>
            <a:off x="514350" y="438150"/>
            <a:ext cx="111633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220" b="1" dirty="0">
                <a:solidFill>
                  <a:srgbClr val="102D3B"/>
                </a:solidFill>
                <a:latin typeface="Microsoft YaHei"/>
                <a:ea typeface="Microsoft YaHei"/>
                <a:cs typeface="Microsoft YaHei"/>
              </a:rPr>
              <a:t>客户端已运行，真实样本验收仍待完成</a:t>
            </a:r>
          </a:p>
        </p:txBody>
      </p:sp>
      <p:grpSp>
        <p:nvGrpSpPr>
          <p:cNvPr id="19" name="shape-6"/>
          <p:cNvGrpSpPr/>
          <p:nvPr/>
        </p:nvGrpSpPr>
        <p:grpSpPr>
          <a:xfrm>
            <a:off x="516255" y="1438275"/>
            <a:ext cx="6953250" cy="4343400"/>
            <a:chOff x="516255" y="1438275"/>
            <a:chExt cx="6953250" cy="4343400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6255" y="1438275"/>
              <a:ext cx="6953250" cy="4343400"/>
            </a:xfrm>
            <a:prstGeom prst="rect">
              <a:avLst/>
            </a:prstGeom>
          </p:spPr>
        </p:pic>
      </p:grpSp>
      <p:sp>
        <p:nvSpPr>
          <p:cNvPr id="7" name="">
            <a:extLst>
              <a:ext uri="{FF2B5EF4-FFF2-40B4-BE49-F238E27FC236}">
                <a16:creationId id="{A0494196-1EB7-4770-8FAF-AB13C59A7A7F}"/>
              </a:ext>
            </a:extLst>
          </p:cNvPr>
          <p:cNvSpPr>
            <a:spLocks noGrp="1"/>
          </p:cNvSpPr>
          <p:nvPr/>
        </p:nvSpPr>
        <p:spPr>
          <a:xfrm>
            <a:off x="8248650" y="1438275"/>
            <a:ext cx="9525" cy="4171950"/>
          </a:xfrm>
          <a:prstGeom prst="rect">
            <a:avLst/>
          </a:prstGeom>
          <a:solidFill>
            <a:srgbClr val="D5DEDE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a16:creationId id="{C186C8E9-3AE0-4461-9ED6-5730842D36AE}"/>
              </a:ext>
            </a:extLst>
          </p:cNvPr>
          <p:cNvSpPr>
            <a:spLocks noGrp="1"/>
          </p:cNvSpPr>
          <p:nvPr/>
        </p:nvSpPr>
        <p:spPr>
          <a:xfrm>
            <a:off x="8486775" y="1466850"/>
            <a:ext cx="32099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1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6876E"/>
                </a:solidFill>
                <a:latin typeface="Noto Sans CJK SC"/>
                <a:ea typeface="Noto Sans CJK SC"/>
                <a:cs typeface="Noto Sans CJK SC"/>
              </a:rPr>
              <a:t>已验证的操作</a:t>
            </a:r>
          </a:p>
        </p:txBody>
      </p:sp>
      <p:sp>
        <p:nvSpPr>
          <p:cNvPr id="9" name="">
            <a:extLst>
              <a:ext uri="{FF2B5EF4-FFF2-40B4-BE49-F238E27FC236}">
                <a16:creationId id="{D4C0B81E-0CD6-4E70-BED0-0EAC0209336A}"/>
              </a:ext>
            </a:extLst>
          </p:cNvPr>
          <p:cNvSpPr>
            <a:spLocks noGrp="1"/>
          </p:cNvSpPr>
          <p:nvPr/>
        </p:nvSpPr>
        <p:spPr>
          <a:xfrm>
            <a:off x="8486775" y="2000250"/>
            <a:ext cx="320992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读代码 · 静态分析</a:t>
            </a:r>
          </a:p>
          <a:p>
            <a: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已知案例隔离配对</a:t>
            </a:r>
          </a:p>
          <a:p>
            <a:pPr>
              <a:def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修改差异与审批</a:t>
            </a:r>
          </a:p>
        </p:txBody>
      </p:sp>
      <p:sp>
        <p:nvSpPr>
          <p:cNvPr id="10" name="">
            <a:extLst>
              <a:ext uri="{FF2B5EF4-FFF2-40B4-BE49-F238E27FC236}">
                <a16:creationId id="{9B1186A3-CC9D-4CFC-90F4-4020743EFA3E}"/>
              </a:ext>
            </a:extLst>
          </p:cNvPr>
          <p:cNvSpPr>
            <a:spLocks noGrp="1"/>
          </p:cNvSpPr>
          <p:nvPr/>
        </p:nvSpPr>
        <p:spPr>
          <a:xfrm>
            <a:off x="8486775" y="3419475"/>
            <a:ext cx="32099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17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BB493F"/>
                </a:solidFill>
                <a:latin typeface="Noto Sans CJK SC"/>
                <a:ea typeface="Noto Sans CJK SC"/>
                <a:cs typeface="Noto Sans CJK SC"/>
              </a:rPr>
              <a:t>当前待补</a:t>
            </a:r>
          </a:p>
        </p:txBody>
      </p:sp>
      <p:sp>
        <p:nvSpPr>
          <p:cNvPr id="11" name="">
            <a:extLst>
              <a:ext uri="{FF2B5EF4-FFF2-40B4-BE49-F238E27FC236}">
                <a16:creationId id="{E0BB08F6-6F88-4760-A327-60E0C863B631}"/>
              </a:ext>
            </a:extLst>
          </p:cNvPr>
          <p:cNvSpPr>
            <a:spLocks noGrp="1"/>
          </p:cNvSpPr>
          <p:nvPr/>
        </p:nvSpPr>
        <p:spPr>
          <a:xfrm>
            <a:off x="8486775" y="3933825"/>
            <a:ext cx="320992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12 份真实输出动态验收</a:t>
            </a:r>
          </a:p>
          <a:p>
            <a: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两人独立标签</a:t>
            </a:r>
          </a:p>
          <a:p>
            <a:pPr>
              <a:def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两轮真人计时</a:t>
            </a:r>
          </a:p>
        </p:txBody>
      </p:sp>
      <p:sp>
        <p:nvSpPr>
          <p:cNvPr id="12" name="">
            <a:extLst>
              <a:ext uri="{FF2B5EF4-FFF2-40B4-BE49-F238E27FC236}">
                <a16:creationId id="{55E3B2A8-30BD-40AF-BF33-59C63AF47F99}"/>
              </a:ext>
            </a:extLst>
          </p:cNvPr>
          <p:cNvSpPr>
            <a:spLocks noGrp="1"/>
          </p:cNvSpPr>
          <p:nvPr/>
        </p:nvSpPr>
        <p:spPr>
          <a:xfrm>
            <a:off x="8486775" y="5391150"/>
            <a:ext cx="32099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项目自有 Agent + DeepSeek API</a:t>
            </a:r>
          </a:p>
        </p:txBody>
      </p:sp>
      <p:sp>
        <p:nvSpPr>
          <p:cNvPr id="13" name="">
            <a:extLst>
              <a:ext uri="{FF2B5EF4-FFF2-40B4-BE49-F238E27FC236}">
                <a16:creationId id="{1A0EAD38-A599-4AF9-8AA9-66ADCA69C34A}"/>
              </a:ext>
            </a:extLst>
          </p:cNvPr>
          <p:cNvSpPr>
            <a:spLocks noGrp="1"/>
          </p:cNvSpPr>
          <p:nvPr/>
        </p:nvSpPr>
        <p:spPr>
          <a:xfrm>
            <a:off x="542925" y="5886450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负责人：方法与集成   ·   动态：隔离与案例   ·   数据：标签与材料</a:t>
            </a:r>
          </a:p>
        </p:txBody>
      </p:sp>
    </p:spTree>
    <p:extLst>
      <p:ext uri="{BB962C8B-B14F-4D97-AF65-F5344CB8AC3E}">
        <p14:creationId val="1054620469"/>
      </p:ext>
    </p:extLst>
  </p:cSld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DFBE4293-575A-4B05-BFB8-EE94B95569B0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9525"/>
          </a:xfrm>
          <a:prstGeom prst="rect">
            <a:avLst/>
          </a:prstGeom>
          <a:solidFill>
            <a:srgbClr val="D5DEDE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a16:creationId id="{5471E8DF-96D1-48FB-A70E-988429532B20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大创中期汇报  ·  2026.10</a:t>
            </a:r>
          </a:p>
        </p:txBody>
      </p:sp>
      <p:sp>
        <p:nvSpPr>
          <p:cNvPr id="4" name="">
            <a:extLst>
              <a:ext uri="{FF2B5EF4-FFF2-40B4-BE49-F238E27FC236}">
                <a16:creationId id="{4F09B97C-7F44-4291-AE98-7E1ECF2834E4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7 / 7</a:t>
            </a:r>
          </a:p>
        </p:txBody>
      </p:sp>
      <p:sp>
        <p:nvSpPr>
          <p:cNvPr id="5" name="shape-5"/>
          <p:cNvSpPr/>
          <p:nvPr/>
        </p:nvSpPr>
        <p:spPr>
          <a:xfrm>
            <a:off x="514350" y="438150"/>
            <a:ext cx="111633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220" b="1" dirty="0">
                <a:solidFill>
                  <a:srgbClr val="102D3B"/>
                </a:solidFill>
                <a:latin typeface="Microsoft YaHei"/>
                <a:ea typeface="Microsoft YaHei"/>
                <a:cs typeface="Microsoft YaHei"/>
              </a:rPr>
              <a:t>后续研究计划</a:t>
            </a:r>
          </a:p>
        </p:txBody>
      </p:sp>
      <p:sp>
        <p:nvSpPr>
          <p:cNvPr id="6" name="">
            <a:extLst>
              <a:ext uri="{FF2B5EF4-FFF2-40B4-BE49-F238E27FC236}">
                <a16:creationId id="{1B29405D-12CE-4E1D-8595-465673274FB8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33350" cy="133350"/>
          </a:xfrm>
          <a:prstGeom prst="ellipse">
            <a:avLst/>
          </a:prstGeom>
          <a:solidFill>
            <a:srgbClr val="16876E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a16:creationId id="{61915404-79F7-4E38-8752-BFCDFAFCBBA3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19050" cy="962025"/>
          </a:xfrm>
          <a:prstGeom prst="rect">
            <a:avLst/>
          </a:prstGeom>
          <a:solidFill>
            <a:srgbClr val="D5DEDE"/>
          </a:solidFill>
          <a:ln w="0">
            <a:noFill/>
          </a:ln>
        </p:spPr>
      </p:sp>
      <p:sp>
        <p:nvSpPr>
          <p:cNvPr id="8" name="shape-8"/>
          <p:cNvSpPr/>
          <p:nvPr/>
        </p:nvSpPr>
        <p:spPr>
          <a:xfrm>
            <a:off x="1047750" y="1790700"/>
            <a:ext cx="176212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180" b="1" dirty="0">
                <a:solidFill>
                  <a:srgbClr val="16876E"/>
                </a:solidFill>
                <a:latin typeface="Microsoft YaHei"/>
                <a:ea typeface="Microsoft YaHei"/>
                <a:cs typeface="Microsoft YaHei"/>
              </a:rPr>
              <a:t>1至2 周</a:t>
            </a:r>
          </a:p>
        </p:txBody>
      </p:sp>
      <p:sp>
        <p:nvSpPr>
          <p:cNvPr id="9" name="">
            <a:extLst>
              <a:ext uri="{FF2B5EF4-FFF2-40B4-BE49-F238E27FC236}">
                <a16:creationId id="{8E2AFDD6-487C-4869-B479-B641A96B0866}"/>
              </a:ext>
            </a:extLst>
          </p:cNvPr>
          <p:cNvSpPr>
            <a:spLocks noGrp="1"/>
          </p:cNvSpPr>
          <p:nvPr/>
        </p:nvSpPr>
        <p:spPr>
          <a:xfrm>
            <a:off x="3143250" y="1724025"/>
            <a:ext cx="83343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真实样本与可靠标签</a:t>
            </a:r>
          </a:p>
        </p:txBody>
      </p:sp>
      <p:sp>
        <p:nvSpPr>
          <p:cNvPr id="10" name="">
            <a:extLst>
              <a:ext uri="{FF2B5EF4-FFF2-40B4-BE49-F238E27FC236}">
                <a16:creationId id="{88E42FDC-4146-4846-9507-EEB25AEB61C2}"/>
              </a:ext>
            </a:extLst>
          </p:cNvPr>
          <p:cNvSpPr>
            <a:spLocks noGrp="1"/>
          </p:cNvSpPr>
          <p:nvPr/>
        </p:nvSpPr>
        <p:spPr>
          <a:xfrm>
            <a:off x="3143250" y="2247900"/>
            <a:ext cx="83343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独立来源、正常功能 + 安全性质、双人复核</a:t>
            </a:r>
          </a:p>
        </p:txBody>
      </p:sp>
      <p:sp>
        <p:nvSpPr>
          <p:cNvPr id="11" name="">
            <a:extLst>
              <a:ext uri="{FF2B5EF4-FFF2-40B4-BE49-F238E27FC236}">
                <a16:creationId id="{1EE7F826-E637-424E-877B-F3920BD8CCCF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133350" cy="133350"/>
          </a:xfrm>
          <a:prstGeom prst="ellipse">
            <a:avLst/>
          </a:prstGeom>
          <a:solidFill>
            <a:srgbClr val="527A99"/>
          </a:solidFill>
          <a:ln w="0">
            <a:noFill/>
          </a:ln>
        </p:spPr>
      </p:sp>
      <p:sp>
        <p:nvSpPr>
          <p:cNvPr id="12" name="">
            <a:extLst>
              <a:ext uri="{FF2B5EF4-FFF2-40B4-BE49-F238E27FC236}">
                <a16:creationId id="{DC3D5C5C-F37F-4FAF-914F-C0F11A9C685F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9050" cy="962025"/>
          </a:xfrm>
          <a:prstGeom prst="rect">
            <a:avLst/>
          </a:prstGeom>
          <a:solidFill>
            <a:srgbClr val="D5DEDE"/>
          </a:solidFill>
          <a:ln w="0">
            <a:noFill/>
          </a:ln>
        </p:spPr>
      </p:sp>
      <p:sp>
        <p:nvSpPr>
          <p:cNvPr id="13" name="shape-13"/>
          <p:cNvSpPr/>
          <p:nvPr/>
        </p:nvSpPr>
        <p:spPr>
          <a:xfrm>
            <a:off x="1047750" y="2933700"/>
            <a:ext cx="176212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180" b="1" dirty="0">
                <a:solidFill>
                  <a:srgbClr val="16876E"/>
                </a:solidFill>
                <a:latin typeface="Microsoft YaHei"/>
                <a:ea typeface="Microsoft YaHei"/>
                <a:cs typeface="Microsoft YaHei"/>
              </a:rPr>
              <a:t>3至5 周</a:t>
            </a:r>
          </a:p>
        </p:txBody>
      </p:sp>
      <p:sp>
        <p:nvSpPr>
          <p:cNvPr id="14" name="shape-14"/>
          <p:cNvSpPr/>
          <p:nvPr/>
        </p:nvSpPr>
        <p:spPr>
          <a:xfrm>
            <a:off x="3143250" y="2867025"/>
            <a:ext cx="8334375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480" b="1" dirty="0">
                <a:solidFill>
                  <a:srgbClr val="102D3B"/>
                </a:solidFill>
                <a:latin typeface="Microsoft YaHei"/>
                <a:ea typeface="Microsoft YaHei"/>
                <a:cs typeface="Microsoft YaHei"/>
              </a:rPr>
              <a:t>风险相关的局部上下文</a:t>
            </a:r>
          </a:p>
        </p:txBody>
      </p:sp>
      <p:sp>
        <p:nvSpPr>
          <p:cNvPr id="15" name="">
            <a:extLst>
              <a:ext uri="{FF2B5EF4-FFF2-40B4-BE49-F238E27FC236}">
                <a16:creationId id="{B32D201C-2871-4FD3-BD1D-A87174955C83}"/>
              </a:ext>
            </a:extLst>
          </p:cNvPr>
          <p:cNvSpPr>
            <a:spLocks noGrp="1"/>
          </p:cNvSpPr>
          <p:nvPr/>
        </p:nvSpPr>
        <p:spPr>
          <a:xfrm>
            <a:off x="3143250" y="3390900"/>
            <a:ext cx="83343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输入到敏感调用的依赖、多函数代码、去依赖消融</a:t>
            </a:r>
          </a:p>
        </p:txBody>
      </p:sp>
      <p:sp>
        <p:nvSpPr>
          <p:cNvPr id="16" name="">
            <a:extLst>
              <a:ext uri="{FF2B5EF4-FFF2-40B4-BE49-F238E27FC236}">
                <a16:creationId id="{71F24C07-8BF9-4FA9-B65F-3219A51595CA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133350" cy="133350"/>
          </a:xfrm>
          <a:prstGeom prst="ellipse">
            <a:avLst/>
          </a:prstGeom>
          <a:solidFill>
            <a:srgbClr val="527A99"/>
          </a:solidFill>
          <a:ln w="0">
            <a:noFill/>
          </a:ln>
        </p:spPr>
      </p:sp>
      <p:sp>
        <p:nvSpPr>
          <p:cNvPr id="17" name="shape-17"/>
          <p:cNvSpPr/>
          <p:nvPr/>
        </p:nvSpPr>
        <p:spPr>
          <a:xfrm>
            <a:off x="1047750" y="4076700"/>
            <a:ext cx="176212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180" b="1" dirty="0">
                <a:solidFill>
                  <a:srgbClr val="16876E"/>
                </a:solidFill>
                <a:latin typeface="Microsoft YaHei"/>
                <a:ea typeface="Microsoft YaHei"/>
                <a:cs typeface="Microsoft YaHei"/>
              </a:rPr>
              <a:t>6至8 周</a:t>
            </a:r>
          </a:p>
        </p:txBody>
      </p:sp>
      <p:sp>
        <p:nvSpPr>
          <p:cNvPr id="18" name="">
            <a:extLst>
              <a:ext uri="{FF2B5EF4-FFF2-40B4-BE49-F238E27FC236}">
                <a16:creationId id="{22061569-D88F-4CAB-8325-BD6FE71F1714}"/>
              </a:ext>
            </a:extLst>
          </p:cNvPr>
          <p:cNvSpPr>
            <a:spLocks noGrp="1"/>
          </p:cNvSpPr>
          <p:nvPr/>
        </p:nvSpPr>
        <p:spPr>
          <a:xfrm>
            <a:off x="3143250" y="4010025"/>
            <a:ext cx="83343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02D3B"/>
                </a:solidFill>
                <a:latin typeface="Noto Sans CJK SC"/>
                <a:ea typeface="Noto Sans CJK SC"/>
                <a:cs typeface="Noto Sans CJK SC"/>
              </a:rPr>
              <a:t>检验增益及成本</a:t>
            </a:r>
          </a:p>
        </p:txBody>
      </p:sp>
      <p:sp>
        <p:nvSpPr>
          <p:cNvPr id="19" name="">
            <a:extLst>
              <a:ext uri="{FF2B5EF4-FFF2-40B4-BE49-F238E27FC236}">
                <a16:creationId id="{5980CCE7-0C42-49E5-A701-20996A3CC7F5}"/>
              </a:ext>
            </a:extLst>
          </p:cNvPr>
          <p:cNvSpPr>
            <a:spLocks noGrp="1"/>
          </p:cNvSpPr>
          <p:nvPr/>
        </p:nvSpPr>
        <p:spPr>
          <a:xfrm>
            <a:off x="3143250" y="4533900"/>
            <a:ext cx="83343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4666F"/>
                </a:solidFill>
                <a:latin typeface="Noto Sans CJK SC"/>
                <a:ea typeface="Noto Sans CJK SC"/>
                <a:cs typeface="Noto Sans CJK SC"/>
              </a:rPr>
              <a:t>强基线、去反馈、第二模型、每次成功成本</a:t>
            </a:r>
          </a:p>
        </p:txBody>
      </p:sp>
      <p:sp>
        <p:nvSpPr>
          <p:cNvPr id="20" name="">
            <a:extLst>
              <a:ext uri="{FF2B5EF4-FFF2-40B4-BE49-F238E27FC236}">
                <a16:creationId id="{537979D8-8E71-43CD-9916-FAEE5FA64AC6}"/>
              </a:ext>
            </a:extLst>
          </p:cNvPr>
          <p:cNvSpPr>
            <a:spLocks noGrp="1"/>
          </p:cNvSpPr>
          <p:nvPr/>
        </p:nvSpPr>
        <p:spPr>
          <a:xfrm>
            <a:off x="514350" y="5448300"/>
            <a:ext cx="11163300" cy="628650"/>
          </a:xfrm>
          <a:prstGeom prst="rect">
            <a:avLst/>
          </a:prstGeom>
          <a:solidFill>
            <a:srgbClr val="102D3B"/>
          </a:solidFill>
          <a:ln w="0">
            <a:noFill/>
          </a:ln>
        </p:spPr>
      </p:sp>
      <p:sp>
        <p:nvSpPr>
          <p:cNvPr id="21" name="">
            <a:extLst>
              <a:ext uri="{FF2B5EF4-FFF2-40B4-BE49-F238E27FC236}">
                <a16:creationId id="{7A672891-2BB3-4A34-AAAA-680AB6BB3BAF}"/>
              </a:ext>
            </a:extLst>
          </p:cNvPr>
          <p:cNvSpPr>
            <a:spLocks noGrp="1"/>
          </p:cNvSpPr>
          <p:nvPr/>
        </p:nvSpPr>
        <p:spPr>
          <a:xfrm>
            <a:off x="752475" y="561975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符号执行：当失败分析证明路径约束是主要障碍时，再做有界试验</a:t>
            </a:r>
          </a:p>
        </p:txBody>
      </p:sp>
    </p:spTree>
    <p:extLst>
      <p:ext uri="{BB962C8B-B14F-4D97-AF65-F5344CB8AC3E}">
        <p14:creationId val="8642023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2026-10-27T09:29:49.2060000Z</dcterms:created>
  <dcterms:modified xsi:type="dcterms:W3CDTF">2026-10-27T09:29:49.2070000Z</dcterms:modified>
</coreProperties>
</file>